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3"/>
  </p:notesMasterIdLst>
  <p:handoutMasterIdLst>
    <p:handoutMasterId r:id="rId24"/>
  </p:handoutMasterIdLst>
  <p:sldIdLst>
    <p:sldId id="312" r:id="rId2"/>
    <p:sldId id="340" r:id="rId3"/>
    <p:sldId id="339" r:id="rId4"/>
    <p:sldId id="257" r:id="rId5"/>
    <p:sldId id="336" r:id="rId6"/>
    <p:sldId id="337" r:id="rId7"/>
    <p:sldId id="338" r:id="rId8"/>
    <p:sldId id="327" r:id="rId9"/>
    <p:sldId id="335" r:id="rId10"/>
    <p:sldId id="317" r:id="rId11"/>
    <p:sldId id="318" r:id="rId12"/>
    <p:sldId id="319" r:id="rId13"/>
    <p:sldId id="320" r:id="rId14"/>
    <p:sldId id="321" r:id="rId15"/>
    <p:sldId id="322" r:id="rId16"/>
    <p:sldId id="323" r:id="rId17"/>
    <p:sldId id="324" r:id="rId18"/>
    <p:sldId id="326" r:id="rId19"/>
    <p:sldId id="325" r:id="rId20"/>
    <p:sldId id="329" r:id="rId21"/>
    <p:sldId id="333" r:id="rId22"/>
  </p:sldIdLst>
  <p:sldSz cx="9144000" cy="5143500" type="screen16x9"/>
  <p:notesSz cx="6858000" cy="9144000"/>
  <p:embeddedFontLst>
    <p:embeddedFont>
      <p:font typeface="Palanquin Dark" panose="020B0604020202020204" charset="0"/>
      <p:regular r:id="rId25"/>
      <p:bold r:id="rId26"/>
    </p:embeddedFont>
    <p:embeddedFont>
      <p:font typeface="Roboto" panose="02000000000000000000" pitchFamily="2" charset="0"/>
      <p:regular r:id="rId27"/>
      <p:bold r:id="rId28"/>
      <p:italic r:id="rId29"/>
      <p:boldItalic r:id="rId30"/>
    </p:embeddedFont>
    <p:embeddedFont>
      <p:font typeface="Roboto Slab" pitchFamily="2" charset="0"/>
      <p:regular r:id="rId31"/>
      <p:bold r:id="rId32"/>
    </p:embeddedFont>
    <p:embeddedFont>
      <p:font typeface="Roboto Slab Medium" pitchFamily="2"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FECFCB-D243-45B4-B465-B1A0E3F2FBB4}" v="35" dt="2025-10-09T10:58:01.829"/>
  </p1510:revLst>
</p1510:revInfo>
</file>

<file path=ppt/tableStyles.xml><?xml version="1.0" encoding="utf-8"?>
<a:tblStyleLst xmlns:a="http://schemas.openxmlformats.org/drawingml/2006/main" def="{80B3C3BF-3849-41CD-AA31-3B580A034746}">
  <a:tblStyle styleId="{80B3C3BF-3849-41CD-AA31-3B580A0347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4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D32D5A-DFB7-573A-E3F8-52F2613511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CBEDD08-2DD6-B63D-5F13-B62D6F70E2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451180-1911-4015-825F-52F332FE1C5E}" type="datetimeFigureOut">
              <a:rPr lang="en-IN" smtClean="0"/>
              <a:t>11-10-2025</a:t>
            </a:fld>
            <a:endParaRPr lang="en-IN"/>
          </a:p>
        </p:txBody>
      </p:sp>
      <p:sp>
        <p:nvSpPr>
          <p:cNvPr id="4" name="Footer Placeholder 3">
            <a:extLst>
              <a:ext uri="{FF2B5EF4-FFF2-40B4-BE49-F238E27FC236}">
                <a16:creationId xmlns:a16="http://schemas.microsoft.com/office/drawing/2014/main" id="{38A0DC6F-3875-D5CA-4EC3-ACD2EFAF689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3832F55A-332F-DC6C-BB33-0DF022F980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D93AFD-BF0C-47F4-B2A4-365D03D642F0}" type="slidenum">
              <a:rPr lang="en-IN" smtClean="0"/>
              <a:t>‹#›</a:t>
            </a:fld>
            <a:endParaRPr lang="en-IN"/>
          </a:p>
        </p:txBody>
      </p:sp>
    </p:spTree>
    <p:extLst>
      <p:ext uri="{BB962C8B-B14F-4D97-AF65-F5344CB8AC3E}">
        <p14:creationId xmlns:p14="http://schemas.microsoft.com/office/powerpoint/2010/main" val="28774026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85cf8b5f36_0_6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09" name="Google Shape;309;g85cf8b5f36_0_6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a:extLst>
            <a:ext uri="{FF2B5EF4-FFF2-40B4-BE49-F238E27FC236}">
              <a16:creationId xmlns:a16="http://schemas.microsoft.com/office/drawing/2014/main" id="{E466A155-DB2B-F534-644D-5B5AC8A4E1F3}"/>
            </a:ext>
          </a:extLst>
        </p:cNvPr>
        <p:cNvGrpSpPr/>
        <p:nvPr/>
      </p:nvGrpSpPr>
      <p:grpSpPr>
        <a:xfrm>
          <a:off x="0" y="0"/>
          <a:ext cx="0" cy="0"/>
          <a:chOff x="0" y="0"/>
          <a:chExt cx="0" cy="0"/>
        </a:xfrm>
      </p:grpSpPr>
      <p:sp>
        <p:nvSpPr>
          <p:cNvPr id="321" name="Google Shape;321;g877b642fd3_0_8:notes">
            <a:extLst>
              <a:ext uri="{FF2B5EF4-FFF2-40B4-BE49-F238E27FC236}">
                <a16:creationId xmlns:a16="http://schemas.microsoft.com/office/drawing/2014/main" id="{1FBB80B5-9B52-7D9B-A02C-D69D4F6594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22" name="Google Shape;322;g877b642fd3_0_8:notes">
            <a:extLst>
              <a:ext uri="{FF2B5EF4-FFF2-40B4-BE49-F238E27FC236}">
                <a16:creationId xmlns:a16="http://schemas.microsoft.com/office/drawing/2014/main" id="{1DD36B4E-4801-28C4-1AEB-0C2AAC7861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9797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
        <p:cNvGrpSpPr/>
        <p:nvPr/>
      </p:nvGrpSpPr>
      <p:grpSpPr>
        <a:xfrm>
          <a:off x="0" y="0"/>
          <a:ext cx="0" cy="0"/>
          <a:chOff x="0" y="0"/>
          <a:chExt cx="0" cy="0"/>
        </a:xfrm>
      </p:grpSpPr>
      <p:sp>
        <p:nvSpPr>
          <p:cNvPr id="36" name="Google Shape;36;p4"/>
          <p:cNvSpPr txBox="1">
            <a:spLocks noGrp="1"/>
          </p:cNvSpPr>
          <p:nvPr>
            <p:ph type="body" idx="1"/>
          </p:nvPr>
        </p:nvSpPr>
        <p:spPr>
          <a:xfrm>
            <a:off x="720000" y="1112725"/>
            <a:ext cx="7155000" cy="36198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Char char="■"/>
              <a:defRPr sz="1200"/>
            </a:lvl1pPr>
            <a:lvl2pPr marL="914400" lvl="1" indent="-304800">
              <a:lnSpc>
                <a:spcPct val="100000"/>
              </a:lnSpc>
              <a:spcBef>
                <a:spcPts val="1600"/>
              </a:spcBef>
              <a:spcAft>
                <a:spcPts val="0"/>
              </a:spcAft>
              <a:buSzPts val="1200"/>
              <a:buChar char="○"/>
              <a:defRPr sz="1200"/>
            </a:lvl2pPr>
            <a:lvl3pPr marL="1371600" lvl="2" indent="-304800">
              <a:lnSpc>
                <a:spcPct val="100000"/>
              </a:lnSpc>
              <a:spcBef>
                <a:spcPts val="1600"/>
              </a:spcBef>
              <a:spcAft>
                <a:spcPts val="0"/>
              </a:spcAft>
              <a:buSzPts val="1200"/>
              <a:buChar char="■"/>
              <a:defRPr sz="1200"/>
            </a:lvl3pPr>
            <a:lvl4pPr marL="1828800" lvl="3" indent="-304800">
              <a:lnSpc>
                <a:spcPct val="100000"/>
              </a:lnSpc>
              <a:spcBef>
                <a:spcPts val="1600"/>
              </a:spcBef>
              <a:spcAft>
                <a:spcPts val="0"/>
              </a:spcAft>
              <a:buSzPts val="1200"/>
              <a:buChar char="●"/>
              <a:defRPr sz="1200"/>
            </a:lvl4pPr>
            <a:lvl5pPr marL="2286000" lvl="4" indent="-304800">
              <a:lnSpc>
                <a:spcPct val="100000"/>
              </a:lnSpc>
              <a:spcBef>
                <a:spcPts val="1600"/>
              </a:spcBef>
              <a:spcAft>
                <a:spcPts val="0"/>
              </a:spcAft>
              <a:buSzPts val="1200"/>
              <a:buChar char="○"/>
              <a:defRPr sz="1200"/>
            </a:lvl5pPr>
            <a:lvl6pPr marL="2743200" lvl="5" indent="-304800">
              <a:lnSpc>
                <a:spcPct val="100000"/>
              </a:lnSpc>
              <a:spcBef>
                <a:spcPts val="1600"/>
              </a:spcBef>
              <a:spcAft>
                <a:spcPts val="0"/>
              </a:spcAft>
              <a:buSzPts val="1200"/>
              <a:buChar char="■"/>
              <a:defRPr sz="1200"/>
            </a:lvl6pPr>
            <a:lvl7pPr marL="3200400" lvl="6" indent="-304800">
              <a:lnSpc>
                <a:spcPct val="100000"/>
              </a:lnSpc>
              <a:spcBef>
                <a:spcPts val="1600"/>
              </a:spcBef>
              <a:spcAft>
                <a:spcPts val="0"/>
              </a:spcAft>
              <a:buSzPts val="1200"/>
              <a:buChar char="●"/>
              <a:defRPr sz="1200"/>
            </a:lvl7pPr>
            <a:lvl8pPr marL="3657600" lvl="7" indent="-304800">
              <a:lnSpc>
                <a:spcPct val="100000"/>
              </a:lnSpc>
              <a:spcBef>
                <a:spcPts val="1600"/>
              </a:spcBef>
              <a:spcAft>
                <a:spcPts val="0"/>
              </a:spcAft>
              <a:buSzPts val="1200"/>
              <a:buChar char="○"/>
              <a:defRPr sz="1200"/>
            </a:lvl8pPr>
            <a:lvl9pPr marL="4114800" lvl="8" indent="-304800">
              <a:lnSpc>
                <a:spcPct val="100000"/>
              </a:lnSpc>
              <a:spcBef>
                <a:spcPts val="1600"/>
              </a:spcBef>
              <a:spcAft>
                <a:spcPts val="1600"/>
              </a:spcAft>
              <a:buSzPts val="1200"/>
              <a:buChar char="■"/>
              <a:defRPr sz="1200"/>
            </a:lvl9pPr>
          </a:lstStyle>
          <a:p>
            <a:endParaRPr/>
          </a:p>
        </p:txBody>
      </p:sp>
      <p:sp>
        <p:nvSpPr>
          <p:cNvPr id="37" name="Google Shape;37;p4"/>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l" rtl="0">
              <a:spcBef>
                <a:spcPts val="0"/>
              </a:spcBef>
              <a:spcAft>
                <a:spcPts val="0"/>
              </a:spcAft>
              <a:buSzPts val="3000"/>
              <a:buFont typeface="Palanquin Dark"/>
              <a:buNone/>
              <a:defRPr>
                <a:latin typeface="Palanquin Dark"/>
                <a:ea typeface="Palanquin Dark"/>
                <a:cs typeface="Palanquin Dark"/>
                <a:sym typeface="Palanquin Dark"/>
              </a:defRPr>
            </a:lvl2pPr>
            <a:lvl3pPr lvl="2" algn="l" rtl="0">
              <a:spcBef>
                <a:spcPts val="0"/>
              </a:spcBef>
              <a:spcAft>
                <a:spcPts val="0"/>
              </a:spcAft>
              <a:buSzPts val="3000"/>
              <a:buFont typeface="Palanquin Dark"/>
              <a:buNone/>
              <a:defRPr>
                <a:latin typeface="Palanquin Dark"/>
                <a:ea typeface="Palanquin Dark"/>
                <a:cs typeface="Palanquin Dark"/>
                <a:sym typeface="Palanquin Dark"/>
              </a:defRPr>
            </a:lvl3pPr>
            <a:lvl4pPr lvl="3" algn="l" rtl="0">
              <a:spcBef>
                <a:spcPts val="0"/>
              </a:spcBef>
              <a:spcAft>
                <a:spcPts val="0"/>
              </a:spcAft>
              <a:buSzPts val="3000"/>
              <a:buFont typeface="Palanquin Dark"/>
              <a:buNone/>
              <a:defRPr>
                <a:latin typeface="Palanquin Dark"/>
                <a:ea typeface="Palanquin Dark"/>
                <a:cs typeface="Palanquin Dark"/>
                <a:sym typeface="Palanquin Dark"/>
              </a:defRPr>
            </a:lvl4pPr>
            <a:lvl5pPr lvl="4" algn="l" rtl="0">
              <a:spcBef>
                <a:spcPts val="0"/>
              </a:spcBef>
              <a:spcAft>
                <a:spcPts val="0"/>
              </a:spcAft>
              <a:buSzPts val="3000"/>
              <a:buFont typeface="Palanquin Dark"/>
              <a:buNone/>
              <a:defRPr>
                <a:latin typeface="Palanquin Dark"/>
                <a:ea typeface="Palanquin Dark"/>
                <a:cs typeface="Palanquin Dark"/>
                <a:sym typeface="Palanquin Dark"/>
              </a:defRPr>
            </a:lvl5pPr>
            <a:lvl6pPr lvl="5" algn="l" rtl="0">
              <a:spcBef>
                <a:spcPts val="0"/>
              </a:spcBef>
              <a:spcAft>
                <a:spcPts val="0"/>
              </a:spcAft>
              <a:buSzPts val="3000"/>
              <a:buFont typeface="Palanquin Dark"/>
              <a:buNone/>
              <a:defRPr>
                <a:latin typeface="Palanquin Dark"/>
                <a:ea typeface="Palanquin Dark"/>
                <a:cs typeface="Palanquin Dark"/>
                <a:sym typeface="Palanquin Dark"/>
              </a:defRPr>
            </a:lvl6pPr>
            <a:lvl7pPr lvl="6" algn="l" rtl="0">
              <a:spcBef>
                <a:spcPts val="0"/>
              </a:spcBef>
              <a:spcAft>
                <a:spcPts val="0"/>
              </a:spcAft>
              <a:buSzPts val="3000"/>
              <a:buFont typeface="Palanquin Dark"/>
              <a:buNone/>
              <a:defRPr>
                <a:latin typeface="Palanquin Dark"/>
                <a:ea typeface="Palanquin Dark"/>
                <a:cs typeface="Palanquin Dark"/>
                <a:sym typeface="Palanquin Dark"/>
              </a:defRPr>
            </a:lvl7pPr>
            <a:lvl8pPr lvl="7" algn="l" rtl="0">
              <a:spcBef>
                <a:spcPts val="0"/>
              </a:spcBef>
              <a:spcAft>
                <a:spcPts val="0"/>
              </a:spcAft>
              <a:buSzPts val="3000"/>
              <a:buFont typeface="Palanquin Dark"/>
              <a:buNone/>
              <a:defRPr>
                <a:latin typeface="Palanquin Dark"/>
                <a:ea typeface="Palanquin Dark"/>
                <a:cs typeface="Palanquin Dark"/>
                <a:sym typeface="Palanquin Dark"/>
              </a:defRPr>
            </a:lvl8pPr>
            <a:lvl9pPr lvl="8" algn="l" rtl="0">
              <a:spcBef>
                <a:spcPts val="0"/>
              </a:spcBef>
              <a:spcAft>
                <a:spcPts val="0"/>
              </a:spcAft>
              <a:buSzPts val="3000"/>
              <a:buFont typeface="Palanquin Dark"/>
              <a:buNone/>
              <a:defRPr>
                <a:latin typeface="Palanquin Dark"/>
                <a:ea typeface="Palanquin Dark"/>
                <a:cs typeface="Palanquin Dark"/>
                <a:sym typeface="Palanquin Dark"/>
              </a:defRPr>
            </a:lvl9pPr>
          </a:lstStyle>
          <a:p>
            <a:endParaRPr/>
          </a:p>
        </p:txBody>
      </p:sp>
      <p:grpSp>
        <p:nvGrpSpPr>
          <p:cNvPr id="38" name="Google Shape;38;p4"/>
          <p:cNvGrpSpPr/>
          <p:nvPr/>
        </p:nvGrpSpPr>
        <p:grpSpPr>
          <a:xfrm>
            <a:off x="8052666" y="539548"/>
            <a:ext cx="371325" cy="4064402"/>
            <a:chOff x="8238341" y="539998"/>
            <a:chExt cx="371325" cy="4064402"/>
          </a:xfrm>
        </p:grpSpPr>
        <p:sp>
          <p:nvSpPr>
            <p:cNvPr id="39" name="Google Shape;39;p4"/>
            <p:cNvSpPr/>
            <p:nvPr/>
          </p:nvSpPr>
          <p:spPr>
            <a:xfrm>
              <a:off x="8354654" y="4137566"/>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8354654" y="4485725"/>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4"/>
            <p:cNvCxnSpPr/>
            <p:nvPr/>
          </p:nvCxnSpPr>
          <p:spPr>
            <a:xfrm>
              <a:off x="8424004" y="1140857"/>
              <a:ext cx="0" cy="2767200"/>
            </a:xfrm>
            <a:prstGeom prst="straightConnector1">
              <a:avLst/>
            </a:prstGeom>
            <a:noFill/>
            <a:ln w="9525" cap="flat" cmpd="sng">
              <a:solidFill>
                <a:schemeClr val="dk1"/>
              </a:solidFill>
              <a:prstDash val="solid"/>
              <a:round/>
              <a:headEnd type="none" w="med" len="med"/>
              <a:tailEnd type="none" w="med" len="med"/>
            </a:ln>
          </p:spPr>
        </p:cxnSp>
        <p:sp>
          <p:nvSpPr>
            <p:cNvPr id="42" name="Google Shape;42;p4"/>
            <p:cNvSpPr/>
            <p:nvPr/>
          </p:nvSpPr>
          <p:spPr>
            <a:xfrm>
              <a:off x="8238341" y="539998"/>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CUSTOM_16">
    <p:spTree>
      <p:nvGrpSpPr>
        <p:cNvPr id="1" name="Shape 243"/>
        <p:cNvGrpSpPr/>
        <p:nvPr/>
      </p:nvGrpSpPr>
      <p:grpSpPr>
        <a:xfrm>
          <a:off x="0" y="0"/>
          <a:ext cx="0" cy="0"/>
          <a:chOff x="0" y="0"/>
          <a:chExt cx="0" cy="0"/>
        </a:xfrm>
      </p:grpSpPr>
      <p:sp>
        <p:nvSpPr>
          <p:cNvPr id="244" name="Google Shape;244;p26"/>
          <p:cNvSpPr/>
          <p:nvPr/>
        </p:nvSpPr>
        <p:spPr>
          <a:xfrm>
            <a:off x="6024949" y="829442"/>
            <a:ext cx="2431960" cy="3484616"/>
          </a:xfrm>
          <a:custGeom>
            <a:avLst/>
            <a:gdLst/>
            <a:ahLst/>
            <a:cxnLst/>
            <a:rect l="l" t="t" r="r" b="b"/>
            <a:pathLst>
              <a:path w="20903" h="29952" extrusionOk="0">
                <a:moveTo>
                  <a:pt x="13341" y="1"/>
                </a:moveTo>
                <a:cubicBezTo>
                  <a:pt x="12875" y="1"/>
                  <a:pt x="12444" y="360"/>
                  <a:pt x="12444" y="898"/>
                </a:cubicBezTo>
                <a:lnTo>
                  <a:pt x="12444" y="20427"/>
                </a:lnTo>
                <a:cubicBezTo>
                  <a:pt x="11439" y="19745"/>
                  <a:pt x="10132" y="19376"/>
                  <a:pt x="8704" y="19376"/>
                </a:cubicBezTo>
                <a:cubicBezTo>
                  <a:pt x="7840" y="19376"/>
                  <a:pt x="6932" y="19511"/>
                  <a:pt x="6021" y="19794"/>
                </a:cubicBezTo>
                <a:cubicBezTo>
                  <a:pt x="2334" y="20888"/>
                  <a:pt x="0" y="23970"/>
                  <a:pt x="807" y="26678"/>
                </a:cubicBezTo>
                <a:cubicBezTo>
                  <a:pt x="1417" y="28727"/>
                  <a:pt x="3661" y="29951"/>
                  <a:pt x="6314" y="29951"/>
                </a:cubicBezTo>
                <a:cubicBezTo>
                  <a:pt x="7167" y="29951"/>
                  <a:pt x="8062" y="29825"/>
                  <a:pt x="8959" y="29558"/>
                </a:cubicBezTo>
                <a:cubicBezTo>
                  <a:pt x="12501" y="28464"/>
                  <a:pt x="14777" y="25583"/>
                  <a:pt x="14230" y="22991"/>
                </a:cubicBezTo>
                <a:lnTo>
                  <a:pt x="14230" y="4758"/>
                </a:lnTo>
                <a:cubicBezTo>
                  <a:pt x="14604" y="5046"/>
                  <a:pt x="14979" y="5334"/>
                  <a:pt x="15411" y="5536"/>
                </a:cubicBezTo>
                <a:cubicBezTo>
                  <a:pt x="17888" y="6832"/>
                  <a:pt x="19357" y="7667"/>
                  <a:pt x="18522" y="11527"/>
                </a:cubicBezTo>
                <a:cubicBezTo>
                  <a:pt x="18524" y="11556"/>
                  <a:pt x="18538" y="11569"/>
                  <a:pt x="18562" y="11569"/>
                </a:cubicBezTo>
                <a:cubicBezTo>
                  <a:pt x="18876" y="11569"/>
                  <a:pt x="20902" y="9225"/>
                  <a:pt x="20394" y="7005"/>
                </a:cubicBezTo>
                <a:cubicBezTo>
                  <a:pt x="19847" y="4614"/>
                  <a:pt x="18752" y="3980"/>
                  <a:pt x="16448" y="2972"/>
                </a:cubicBezTo>
                <a:cubicBezTo>
                  <a:pt x="15468" y="2540"/>
                  <a:pt x="14777" y="1532"/>
                  <a:pt x="14316" y="553"/>
                </a:cubicBezTo>
                <a:cubicBezTo>
                  <a:pt x="14230" y="380"/>
                  <a:pt x="14086" y="236"/>
                  <a:pt x="13884" y="178"/>
                </a:cubicBezTo>
                <a:cubicBezTo>
                  <a:pt x="13714" y="56"/>
                  <a:pt x="13525" y="1"/>
                  <a:pt x="133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txBox="1">
            <a:spLocks noGrp="1"/>
          </p:cNvSpPr>
          <p:nvPr>
            <p:ph type="title"/>
          </p:nvPr>
        </p:nvSpPr>
        <p:spPr>
          <a:xfrm>
            <a:off x="1455600" y="3613239"/>
            <a:ext cx="2825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a:endParaRPr/>
          </a:p>
        </p:txBody>
      </p:sp>
      <p:sp>
        <p:nvSpPr>
          <p:cNvPr id="246" name="Google Shape;246;p26"/>
          <p:cNvSpPr txBox="1">
            <a:spLocks noGrp="1"/>
          </p:cNvSpPr>
          <p:nvPr>
            <p:ph type="subTitle" idx="1"/>
          </p:nvPr>
        </p:nvSpPr>
        <p:spPr>
          <a:xfrm>
            <a:off x="1455600" y="1474500"/>
            <a:ext cx="6232800" cy="21945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000" b="1">
                <a:latin typeface="Roboto Slab"/>
                <a:ea typeface="Roboto Slab"/>
                <a:cs typeface="Roboto Slab"/>
                <a:sym typeface="Roboto Slab"/>
              </a:defRPr>
            </a:lvl1pPr>
            <a:lvl2pPr lvl="1" rtl="0">
              <a:spcBef>
                <a:spcPts val="0"/>
              </a:spcBef>
              <a:spcAft>
                <a:spcPts val="0"/>
              </a:spcAft>
              <a:buNone/>
              <a:defRPr sz="3000">
                <a:latin typeface="Roboto Slab"/>
                <a:ea typeface="Roboto Slab"/>
                <a:cs typeface="Roboto Slab"/>
                <a:sym typeface="Roboto Slab"/>
              </a:defRPr>
            </a:lvl2pPr>
            <a:lvl3pPr lvl="2" rtl="0">
              <a:spcBef>
                <a:spcPts val="0"/>
              </a:spcBef>
              <a:spcAft>
                <a:spcPts val="0"/>
              </a:spcAft>
              <a:buNone/>
              <a:defRPr sz="3000">
                <a:latin typeface="Roboto Slab"/>
                <a:ea typeface="Roboto Slab"/>
                <a:cs typeface="Roboto Slab"/>
                <a:sym typeface="Roboto Slab"/>
              </a:defRPr>
            </a:lvl3pPr>
            <a:lvl4pPr lvl="3" rtl="0">
              <a:spcBef>
                <a:spcPts val="0"/>
              </a:spcBef>
              <a:spcAft>
                <a:spcPts val="0"/>
              </a:spcAft>
              <a:buNone/>
              <a:defRPr sz="3000">
                <a:latin typeface="Roboto Slab"/>
                <a:ea typeface="Roboto Slab"/>
                <a:cs typeface="Roboto Slab"/>
                <a:sym typeface="Roboto Slab"/>
              </a:defRPr>
            </a:lvl4pPr>
            <a:lvl5pPr lvl="4" rtl="0">
              <a:spcBef>
                <a:spcPts val="0"/>
              </a:spcBef>
              <a:spcAft>
                <a:spcPts val="0"/>
              </a:spcAft>
              <a:buNone/>
              <a:defRPr sz="3000">
                <a:latin typeface="Roboto Slab"/>
                <a:ea typeface="Roboto Slab"/>
                <a:cs typeface="Roboto Slab"/>
                <a:sym typeface="Roboto Slab"/>
              </a:defRPr>
            </a:lvl5pPr>
            <a:lvl6pPr lvl="5" rtl="0">
              <a:spcBef>
                <a:spcPts val="0"/>
              </a:spcBef>
              <a:spcAft>
                <a:spcPts val="0"/>
              </a:spcAft>
              <a:buNone/>
              <a:defRPr sz="3000">
                <a:latin typeface="Roboto Slab"/>
                <a:ea typeface="Roboto Slab"/>
                <a:cs typeface="Roboto Slab"/>
                <a:sym typeface="Roboto Slab"/>
              </a:defRPr>
            </a:lvl6pPr>
            <a:lvl7pPr lvl="6" rtl="0">
              <a:spcBef>
                <a:spcPts val="0"/>
              </a:spcBef>
              <a:spcAft>
                <a:spcPts val="0"/>
              </a:spcAft>
              <a:buNone/>
              <a:defRPr sz="3000">
                <a:latin typeface="Roboto Slab"/>
                <a:ea typeface="Roboto Slab"/>
                <a:cs typeface="Roboto Slab"/>
                <a:sym typeface="Roboto Slab"/>
              </a:defRPr>
            </a:lvl7pPr>
            <a:lvl8pPr lvl="7" rtl="0">
              <a:spcBef>
                <a:spcPts val="0"/>
              </a:spcBef>
              <a:spcAft>
                <a:spcPts val="0"/>
              </a:spcAft>
              <a:buNone/>
              <a:defRPr sz="3000">
                <a:latin typeface="Roboto Slab"/>
                <a:ea typeface="Roboto Slab"/>
                <a:cs typeface="Roboto Slab"/>
                <a:sym typeface="Roboto Slab"/>
              </a:defRPr>
            </a:lvl8pPr>
            <a:lvl9pPr lvl="8" rtl="0">
              <a:spcBef>
                <a:spcPts val="0"/>
              </a:spcBef>
              <a:spcAft>
                <a:spcPts val="0"/>
              </a:spcAft>
              <a:buNone/>
              <a:defRPr sz="3000">
                <a:latin typeface="Roboto Slab"/>
                <a:ea typeface="Roboto Slab"/>
                <a:cs typeface="Roboto Slab"/>
                <a:sym typeface="Roboto Slab"/>
              </a:defRPr>
            </a:lvl9pPr>
          </a:lstStyle>
          <a:p>
            <a:endParaRPr/>
          </a:p>
        </p:txBody>
      </p:sp>
      <p:grpSp>
        <p:nvGrpSpPr>
          <p:cNvPr id="247" name="Google Shape;247;p26"/>
          <p:cNvGrpSpPr/>
          <p:nvPr/>
        </p:nvGrpSpPr>
        <p:grpSpPr>
          <a:xfrm>
            <a:off x="719991" y="829442"/>
            <a:ext cx="371325" cy="3484616"/>
            <a:chOff x="719991" y="829442"/>
            <a:chExt cx="371325" cy="3484616"/>
          </a:xfrm>
        </p:grpSpPr>
        <p:sp>
          <p:nvSpPr>
            <p:cNvPr id="248" name="Google Shape;248;p26"/>
            <p:cNvSpPr/>
            <p:nvPr/>
          </p:nvSpPr>
          <p:spPr>
            <a:xfrm>
              <a:off x="836304" y="4195383"/>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719991" y="2386075"/>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rot="10800000">
              <a:off x="836304" y="829442"/>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1" name="Google Shape;251;p26"/>
            <p:cNvCxnSpPr/>
            <p:nvPr/>
          </p:nvCxnSpPr>
          <p:spPr>
            <a:xfrm rot="10800000">
              <a:off x="905654" y="1145696"/>
              <a:ext cx="0" cy="1042800"/>
            </a:xfrm>
            <a:prstGeom prst="straightConnector1">
              <a:avLst/>
            </a:prstGeom>
            <a:noFill/>
            <a:ln w="9525" cap="flat" cmpd="sng">
              <a:solidFill>
                <a:schemeClr val="dk1"/>
              </a:solidFill>
              <a:prstDash val="solid"/>
              <a:round/>
              <a:headEnd type="none" w="med" len="med"/>
              <a:tailEnd type="none" w="med" len="med"/>
            </a:ln>
          </p:spPr>
        </p:cxnSp>
        <p:cxnSp>
          <p:nvCxnSpPr>
            <p:cNvPr id="252" name="Google Shape;252;p26"/>
            <p:cNvCxnSpPr/>
            <p:nvPr/>
          </p:nvCxnSpPr>
          <p:spPr>
            <a:xfrm rot="10800000">
              <a:off x="905654" y="2955004"/>
              <a:ext cx="0" cy="104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19">
    <p:spTree>
      <p:nvGrpSpPr>
        <p:cNvPr id="1" name="Shape 267"/>
        <p:cNvGrpSpPr/>
        <p:nvPr/>
      </p:nvGrpSpPr>
      <p:grpSpPr>
        <a:xfrm>
          <a:off x="0" y="0"/>
          <a:ext cx="0" cy="0"/>
          <a:chOff x="0" y="0"/>
          <a:chExt cx="0" cy="0"/>
        </a:xfrm>
      </p:grpSpPr>
      <p:grpSp>
        <p:nvGrpSpPr>
          <p:cNvPr id="268" name="Google Shape;268;p29"/>
          <p:cNvGrpSpPr/>
          <p:nvPr/>
        </p:nvGrpSpPr>
        <p:grpSpPr>
          <a:xfrm>
            <a:off x="719991" y="829442"/>
            <a:ext cx="371325" cy="3484616"/>
            <a:chOff x="719991" y="829442"/>
            <a:chExt cx="371325" cy="3484616"/>
          </a:xfrm>
        </p:grpSpPr>
        <p:sp>
          <p:nvSpPr>
            <p:cNvPr id="269" name="Google Shape;269;p29"/>
            <p:cNvSpPr/>
            <p:nvPr/>
          </p:nvSpPr>
          <p:spPr>
            <a:xfrm>
              <a:off x="836304" y="4195383"/>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9"/>
            <p:cNvSpPr/>
            <p:nvPr/>
          </p:nvSpPr>
          <p:spPr>
            <a:xfrm>
              <a:off x="719991" y="2386075"/>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9"/>
            <p:cNvSpPr/>
            <p:nvPr/>
          </p:nvSpPr>
          <p:spPr>
            <a:xfrm rot="10800000">
              <a:off x="836304" y="829442"/>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2" name="Google Shape;272;p29"/>
            <p:cNvCxnSpPr/>
            <p:nvPr/>
          </p:nvCxnSpPr>
          <p:spPr>
            <a:xfrm rot="10800000">
              <a:off x="905654" y="1145696"/>
              <a:ext cx="0" cy="1042800"/>
            </a:xfrm>
            <a:prstGeom prst="straightConnector1">
              <a:avLst/>
            </a:prstGeom>
            <a:noFill/>
            <a:ln w="9525" cap="flat" cmpd="sng">
              <a:solidFill>
                <a:schemeClr val="dk1"/>
              </a:solidFill>
              <a:prstDash val="solid"/>
              <a:round/>
              <a:headEnd type="none" w="med" len="med"/>
              <a:tailEnd type="none" w="med" len="med"/>
            </a:ln>
          </p:spPr>
        </p:cxnSp>
        <p:cxnSp>
          <p:nvCxnSpPr>
            <p:cNvPr id="273" name="Google Shape;273;p29"/>
            <p:cNvCxnSpPr/>
            <p:nvPr/>
          </p:nvCxnSpPr>
          <p:spPr>
            <a:xfrm rot="10800000">
              <a:off x="905654" y="2955004"/>
              <a:ext cx="0" cy="104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2">
  <p:cSld name="CUSTOM_19_1">
    <p:spTree>
      <p:nvGrpSpPr>
        <p:cNvPr id="1" name="Shape 274"/>
        <p:cNvGrpSpPr/>
        <p:nvPr/>
      </p:nvGrpSpPr>
      <p:grpSpPr>
        <a:xfrm>
          <a:off x="0" y="0"/>
          <a:ext cx="0" cy="0"/>
          <a:chOff x="0" y="0"/>
          <a:chExt cx="0" cy="0"/>
        </a:xfrm>
      </p:grpSpPr>
      <p:grpSp>
        <p:nvGrpSpPr>
          <p:cNvPr id="275" name="Google Shape;275;p30"/>
          <p:cNvGrpSpPr/>
          <p:nvPr/>
        </p:nvGrpSpPr>
        <p:grpSpPr>
          <a:xfrm>
            <a:off x="8052654" y="540007"/>
            <a:ext cx="371325" cy="4063941"/>
            <a:chOff x="8052654" y="540007"/>
            <a:chExt cx="371325" cy="4063941"/>
          </a:xfrm>
        </p:grpSpPr>
        <p:sp>
          <p:nvSpPr>
            <p:cNvPr id="276" name="Google Shape;276;p30"/>
            <p:cNvSpPr/>
            <p:nvPr/>
          </p:nvSpPr>
          <p:spPr>
            <a:xfrm rot="10800000">
              <a:off x="8168966" y="888037"/>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0"/>
            <p:cNvSpPr/>
            <p:nvPr/>
          </p:nvSpPr>
          <p:spPr>
            <a:xfrm rot="10800000">
              <a:off x="8168966" y="540007"/>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8" name="Google Shape;278;p30"/>
            <p:cNvCxnSpPr/>
            <p:nvPr/>
          </p:nvCxnSpPr>
          <p:spPr>
            <a:xfrm rot="10800000">
              <a:off x="8238316" y="1236042"/>
              <a:ext cx="0" cy="2767200"/>
            </a:xfrm>
            <a:prstGeom prst="straightConnector1">
              <a:avLst/>
            </a:prstGeom>
            <a:noFill/>
            <a:ln w="9525" cap="flat" cmpd="sng">
              <a:solidFill>
                <a:schemeClr val="dk1"/>
              </a:solidFill>
              <a:prstDash val="solid"/>
              <a:round/>
              <a:headEnd type="none" w="med" len="med"/>
              <a:tailEnd type="none" w="med" len="med"/>
            </a:ln>
          </p:spPr>
        </p:cxnSp>
        <p:sp>
          <p:nvSpPr>
            <p:cNvPr id="279" name="Google Shape;279;p30"/>
            <p:cNvSpPr/>
            <p:nvPr/>
          </p:nvSpPr>
          <p:spPr>
            <a:xfrm>
              <a:off x="8052654" y="4232598"/>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1">
  <p:cSld name="CUSTOM_17_1">
    <p:spTree>
      <p:nvGrpSpPr>
        <p:cNvPr id="1" name="Shape 280"/>
        <p:cNvGrpSpPr/>
        <p:nvPr/>
      </p:nvGrpSpPr>
      <p:grpSpPr>
        <a:xfrm>
          <a:off x="0" y="0"/>
          <a:ext cx="0" cy="0"/>
          <a:chOff x="0" y="0"/>
          <a:chExt cx="0" cy="0"/>
        </a:xfrm>
      </p:grpSpPr>
      <p:sp>
        <p:nvSpPr>
          <p:cNvPr id="281" name="Google Shape;281;p31"/>
          <p:cNvSpPr txBox="1">
            <a:spLocks noGrp="1"/>
          </p:cNvSpPr>
          <p:nvPr>
            <p:ph type="subTitle" idx="1"/>
          </p:nvPr>
        </p:nvSpPr>
        <p:spPr>
          <a:xfrm>
            <a:off x="720000" y="2538690"/>
            <a:ext cx="2928600" cy="128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82" name="Google Shape;282;p31"/>
          <p:cNvSpPr txBox="1">
            <a:spLocks noGrp="1"/>
          </p:cNvSpPr>
          <p:nvPr>
            <p:ph type="title"/>
          </p:nvPr>
        </p:nvSpPr>
        <p:spPr>
          <a:xfrm>
            <a:off x="720000" y="1522285"/>
            <a:ext cx="2928600" cy="10284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5000"/>
            </a:lvl1pPr>
            <a:lvl2pPr lvl="1" algn="l" rtl="0">
              <a:spcBef>
                <a:spcPts val="0"/>
              </a:spcBef>
              <a:spcAft>
                <a:spcPts val="0"/>
              </a:spcAft>
              <a:buSzPts val="3000"/>
              <a:buNone/>
              <a:defRPr/>
            </a:lvl2pPr>
            <a:lvl3pPr lvl="2" algn="l" rtl="0">
              <a:spcBef>
                <a:spcPts val="0"/>
              </a:spcBef>
              <a:spcAft>
                <a:spcPts val="0"/>
              </a:spcAft>
              <a:buSzPts val="3000"/>
              <a:buNone/>
              <a:defRPr/>
            </a:lvl3pPr>
            <a:lvl4pPr lvl="3" algn="l" rtl="0">
              <a:spcBef>
                <a:spcPts val="0"/>
              </a:spcBef>
              <a:spcAft>
                <a:spcPts val="0"/>
              </a:spcAft>
              <a:buSzPts val="3000"/>
              <a:buNone/>
              <a:defRPr/>
            </a:lvl4pPr>
            <a:lvl5pPr lvl="4" algn="l" rtl="0">
              <a:spcBef>
                <a:spcPts val="0"/>
              </a:spcBef>
              <a:spcAft>
                <a:spcPts val="0"/>
              </a:spcAft>
              <a:buSzPts val="3000"/>
              <a:buNone/>
              <a:defRPr/>
            </a:lvl5pPr>
            <a:lvl6pPr lvl="5" algn="l" rtl="0">
              <a:spcBef>
                <a:spcPts val="0"/>
              </a:spcBef>
              <a:spcAft>
                <a:spcPts val="0"/>
              </a:spcAft>
              <a:buSzPts val="3000"/>
              <a:buNone/>
              <a:defRPr/>
            </a:lvl6pPr>
            <a:lvl7pPr lvl="6" algn="l" rtl="0">
              <a:spcBef>
                <a:spcPts val="0"/>
              </a:spcBef>
              <a:spcAft>
                <a:spcPts val="0"/>
              </a:spcAft>
              <a:buSzPts val="3000"/>
              <a:buNone/>
              <a:defRPr/>
            </a:lvl7pPr>
            <a:lvl8pPr lvl="7" algn="l" rtl="0">
              <a:spcBef>
                <a:spcPts val="0"/>
              </a:spcBef>
              <a:spcAft>
                <a:spcPts val="0"/>
              </a:spcAft>
              <a:buSzPts val="3000"/>
              <a:buNone/>
              <a:defRPr/>
            </a:lvl8pPr>
            <a:lvl9pPr lvl="8" algn="l" rtl="0">
              <a:spcBef>
                <a:spcPts val="0"/>
              </a:spcBef>
              <a:spcAft>
                <a:spcPts val="0"/>
              </a:spcAft>
              <a:buSzPts val="3000"/>
              <a:buNone/>
              <a:defRPr/>
            </a:lvl9pPr>
          </a:lstStyle>
          <a:p>
            <a:endParaRPr/>
          </a:p>
        </p:txBody>
      </p:sp>
      <p:grpSp>
        <p:nvGrpSpPr>
          <p:cNvPr id="283" name="Google Shape;283;p31"/>
          <p:cNvGrpSpPr/>
          <p:nvPr/>
        </p:nvGrpSpPr>
        <p:grpSpPr>
          <a:xfrm>
            <a:off x="828764" y="546950"/>
            <a:ext cx="3743312" cy="371350"/>
            <a:chOff x="849704" y="536973"/>
            <a:chExt cx="3720247" cy="371350"/>
          </a:xfrm>
        </p:grpSpPr>
        <p:sp>
          <p:nvSpPr>
            <p:cNvPr id="284" name="Google Shape;284;p31"/>
            <p:cNvSpPr/>
            <p:nvPr/>
          </p:nvSpPr>
          <p:spPr>
            <a:xfrm rot="5400000">
              <a:off x="4441275" y="663323"/>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1"/>
            <p:cNvSpPr/>
            <p:nvPr/>
          </p:nvSpPr>
          <p:spPr>
            <a:xfrm rot="5400000">
              <a:off x="4112714" y="663310"/>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6" name="Google Shape;286;p31"/>
            <p:cNvCxnSpPr/>
            <p:nvPr/>
          </p:nvCxnSpPr>
          <p:spPr>
            <a:xfrm>
              <a:off x="1430928" y="722648"/>
              <a:ext cx="2481900" cy="0"/>
            </a:xfrm>
            <a:prstGeom prst="straightConnector1">
              <a:avLst/>
            </a:prstGeom>
            <a:noFill/>
            <a:ln w="9525" cap="flat" cmpd="sng">
              <a:solidFill>
                <a:schemeClr val="dk1"/>
              </a:solidFill>
              <a:prstDash val="solid"/>
              <a:round/>
              <a:headEnd type="none" w="med" len="med"/>
              <a:tailEnd type="none" w="med" len="med"/>
            </a:ln>
          </p:spPr>
        </p:cxnSp>
        <p:sp>
          <p:nvSpPr>
            <p:cNvPr id="287" name="Google Shape;287;p31"/>
            <p:cNvSpPr/>
            <p:nvPr/>
          </p:nvSpPr>
          <p:spPr>
            <a:xfrm>
              <a:off x="849704" y="536973"/>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 name="Google Shape;288;p31"/>
          <p:cNvSpPr/>
          <p:nvPr/>
        </p:nvSpPr>
        <p:spPr>
          <a:xfrm>
            <a:off x="3177405" y="1844799"/>
            <a:ext cx="1959424" cy="2759160"/>
          </a:xfrm>
          <a:custGeom>
            <a:avLst/>
            <a:gdLst/>
            <a:ahLst/>
            <a:cxnLst/>
            <a:rect l="l" t="t" r="r" b="b"/>
            <a:pathLst>
              <a:path w="21279" h="29964" extrusionOk="0">
                <a:moveTo>
                  <a:pt x="13341" y="1"/>
                </a:moveTo>
                <a:cubicBezTo>
                  <a:pt x="12875" y="1"/>
                  <a:pt x="12444" y="361"/>
                  <a:pt x="12444" y="898"/>
                </a:cubicBezTo>
                <a:lnTo>
                  <a:pt x="12444" y="20427"/>
                </a:lnTo>
                <a:cubicBezTo>
                  <a:pt x="11457" y="19745"/>
                  <a:pt x="10145" y="19377"/>
                  <a:pt x="8712" y="19377"/>
                </a:cubicBezTo>
                <a:cubicBezTo>
                  <a:pt x="7844" y="19377"/>
                  <a:pt x="6932" y="19512"/>
                  <a:pt x="6021" y="19794"/>
                </a:cubicBezTo>
                <a:cubicBezTo>
                  <a:pt x="2362" y="20888"/>
                  <a:pt x="1" y="23970"/>
                  <a:pt x="836" y="26678"/>
                </a:cubicBezTo>
                <a:cubicBezTo>
                  <a:pt x="1445" y="28723"/>
                  <a:pt x="3665" y="29963"/>
                  <a:pt x="6316" y="29963"/>
                </a:cubicBezTo>
                <a:cubicBezTo>
                  <a:pt x="7175" y="29963"/>
                  <a:pt x="8078" y="29833"/>
                  <a:pt x="8987" y="29558"/>
                </a:cubicBezTo>
                <a:cubicBezTo>
                  <a:pt x="12530" y="28493"/>
                  <a:pt x="14806" y="25612"/>
                  <a:pt x="14259" y="22991"/>
                </a:cubicBezTo>
                <a:lnTo>
                  <a:pt x="14259" y="12132"/>
                </a:lnTo>
                <a:cubicBezTo>
                  <a:pt x="14691" y="12622"/>
                  <a:pt x="15209" y="12996"/>
                  <a:pt x="15785" y="13284"/>
                </a:cubicBezTo>
                <a:cubicBezTo>
                  <a:pt x="18262" y="14580"/>
                  <a:pt x="19760" y="15387"/>
                  <a:pt x="18925" y="19275"/>
                </a:cubicBezTo>
                <a:cubicBezTo>
                  <a:pt x="18925" y="19301"/>
                  <a:pt x="18936" y="19313"/>
                  <a:pt x="18956" y="19313"/>
                </a:cubicBezTo>
                <a:cubicBezTo>
                  <a:pt x="19234" y="19313"/>
                  <a:pt x="21279" y="16983"/>
                  <a:pt x="20768" y="14753"/>
                </a:cubicBezTo>
                <a:cubicBezTo>
                  <a:pt x="20192" y="12362"/>
                  <a:pt x="19098" y="11729"/>
                  <a:pt x="16793" y="10692"/>
                </a:cubicBezTo>
                <a:cubicBezTo>
                  <a:pt x="15440" y="10116"/>
                  <a:pt x="14662" y="8445"/>
                  <a:pt x="14259" y="7178"/>
                </a:cubicBezTo>
                <a:lnTo>
                  <a:pt x="14259" y="4758"/>
                </a:lnTo>
                <a:cubicBezTo>
                  <a:pt x="14633" y="5046"/>
                  <a:pt x="15007" y="5334"/>
                  <a:pt x="15440" y="5536"/>
                </a:cubicBezTo>
                <a:cubicBezTo>
                  <a:pt x="17917" y="6832"/>
                  <a:pt x="19386" y="7667"/>
                  <a:pt x="18550" y="11527"/>
                </a:cubicBezTo>
                <a:cubicBezTo>
                  <a:pt x="18550" y="11552"/>
                  <a:pt x="18562" y="11565"/>
                  <a:pt x="18582" y="11565"/>
                </a:cubicBezTo>
                <a:cubicBezTo>
                  <a:pt x="18866" y="11565"/>
                  <a:pt x="20931" y="9260"/>
                  <a:pt x="20394" y="7005"/>
                </a:cubicBezTo>
                <a:cubicBezTo>
                  <a:pt x="19847" y="4614"/>
                  <a:pt x="18752" y="3980"/>
                  <a:pt x="16448" y="2972"/>
                </a:cubicBezTo>
                <a:cubicBezTo>
                  <a:pt x="15468" y="2540"/>
                  <a:pt x="14806" y="1532"/>
                  <a:pt x="14345" y="553"/>
                </a:cubicBezTo>
                <a:cubicBezTo>
                  <a:pt x="14230" y="380"/>
                  <a:pt x="14086" y="236"/>
                  <a:pt x="13884" y="178"/>
                </a:cubicBezTo>
                <a:cubicBezTo>
                  <a:pt x="13714" y="56"/>
                  <a:pt x="13525" y="1"/>
                  <a:pt x="133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87600"/>
            <a:ext cx="77040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Roboto Slab Medium"/>
              <a:buNone/>
              <a:defRPr sz="3000">
                <a:solidFill>
                  <a:schemeClr val="dk1"/>
                </a:solidFill>
                <a:latin typeface="Roboto Slab Medium"/>
                <a:ea typeface="Roboto Slab Medium"/>
                <a:cs typeface="Roboto Slab Medium"/>
                <a:sym typeface="Roboto Slab Medium"/>
              </a:defRPr>
            </a:lvl1pPr>
            <a:lvl2pPr lvl="1" algn="ctr" rtl="0">
              <a:spcBef>
                <a:spcPts val="0"/>
              </a:spcBef>
              <a:spcAft>
                <a:spcPts val="0"/>
              </a:spcAft>
              <a:buClr>
                <a:schemeClr val="dk1"/>
              </a:buClr>
              <a:buSzPts val="3000"/>
              <a:buNone/>
              <a:defRPr sz="3000">
                <a:solidFill>
                  <a:schemeClr val="dk1"/>
                </a:solidFill>
              </a:defRPr>
            </a:lvl2pPr>
            <a:lvl3pPr lvl="2" algn="ctr" rtl="0">
              <a:spcBef>
                <a:spcPts val="0"/>
              </a:spcBef>
              <a:spcAft>
                <a:spcPts val="0"/>
              </a:spcAft>
              <a:buClr>
                <a:schemeClr val="dk1"/>
              </a:buClr>
              <a:buSzPts val="3000"/>
              <a:buNone/>
              <a:defRPr sz="3000">
                <a:solidFill>
                  <a:schemeClr val="dk1"/>
                </a:solidFill>
              </a:defRPr>
            </a:lvl3pPr>
            <a:lvl4pPr lvl="3" algn="ctr" rtl="0">
              <a:spcBef>
                <a:spcPts val="0"/>
              </a:spcBef>
              <a:spcAft>
                <a:spcPts val="0"/>
              </a:spcAft>
              <a:buClr>
                <a:schemeClr val="dk1"/>
              </a:buClr>
              <a:buSzPts val="3000"/>
              <a:buNone/>
              <a:defRPr sz="3000">
                <a:solidFill>
                  <a:schemeClr val="dk1"/>
                </a:solidFill>
              </a:defRPr>
            </a:lvl4pPr>
            <a:lvl5pPr lvl="4" algn="ctr" rtl="0">
              <a:spcBef>
                <a:spcPts val="0"/>
              </a:spcBef>
              <a:spcAft>
                <a:spcPts val="0"/>
              </a:spcAft>
              <a:buClr>
                <a:schemeClr val="dk1"/>
              </a:buClr>
              <a:buSzPts val="3000"/>
              <a:buNone/>
              <a:defRPr sz="3000">
                <a:solidFill>
                  <a:schemeClr val="dk1"/>
                </a:solidFill>
              </a:defRPr>
            </a:lvl5pPr>
            <a:lvl6pPr lvl="5" algn="ctr" rtl="0">
              <a:spcBef>
                <a:spcPts val="0"/>
              </a:spcBef>
              <a:spcAft>
                <a:spcPts val="0"/>
              </a:spcAft>
              <a:buClr>
                <a:schemeClr val="dk1"/>
              </a:buClr>
              <a:buSzPts val="3000"/>
              <a:buNone/>
              <a:defRPr sz="3000">
                <a:solidFill>
                  <a:schemeClr val="dk1"/>
                </a:solidFill>
              </a:defRPr>
            </a:lvl6pPr>
            <a:lvl7pPr lvl="6" algn="ctr" rtl="0">
              <a:spcBef>
                <a:spcPts val="0"/>
              </a:spcBef>
              <a:spcAft>
                <a:spcPts val="0"/>
              </a:spcAft>
              <a:buClr>
                <a:schemeClr val="dk1"/>
              </a:buClr>
              <a:buSzPts val="3000"/>
              <a:buNone/>
              <a:defRPr sz="3000">
                <a:solidFill>
                  <a:schemeClr val="dk1"/>
                </a:solidFill>
              </a:defRPr>
            </a:lvl7pPr>
            <a:lvl8pPr lvl="7" algn="ctr" rtl="0">
              <a:spcBef>
                <a:spcPts val="0"/>
              </a:spcBef>
              <a:spcAft>
                <a:spcPts val="0"/>
              </a:spcAft>
              <a:buClr>
                <a:schemeClr val="dk1"/>
              </a:buClr>
              <a:buSzPts val="3000"/>
              <a:buNone/>
              <a:defRPr sz="3000">
                <a:solidFill>
                  <a:schemeClr val="dk1"/>
                </a:solidFill>
              </a:defRPr>
            </a:lvl8pPr>
            <a:lvl9pPr lvl="8" algn="ctr" rtl="0">
              <a:spcBef>
                <a:spcPts val="0"/>
              </a:spcBef>
              <a:spcAft>
                <a:spcPts val="0"/>
              </a:spcAft>
              <a:buClr>
                <a:schemeClr val="dk1"/>
              </a:buClr>
              <a:buSzPts val="3000"/>
              <a:buNone/>
              <a:defRPr sz="3000">
                <a:solidFill>
                  <a:schemeClr val="dk1"/>
                </a:solidFill>
              </a:defRPr>
            </a:lvl9pPr>
          </a:lstStyle>
          <a:p>
            <a:endParaRPr/>
          </a:p>
        </p:txBody>
      </p:sp>
      <p:sp>
        <p:nvSpPr>
          <p:cNvPr id="7" name="Google Shape;7;p1"/>
          <p:cNvSpPr txBox="1">
            <a:spLocks noGrp="1"/>
          </p:cNvSpPr>
          <p:nvPr>
            <p:ph type="body" idx="1"/>
          </p:nvPr>
        </p:nvSpPr>
        <p:spPr>
          <a:xfrm>
            <a:off x="720000" y="1300850"/>
            <a:ext cx="7704000" cy="32679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dirty="0"/>
          </a:p>
        </p:txBody>
      </p:sp>
      <p:pic>
        <p:nvPicPr>
          <p:cNvPr id="3" name="Picture 2">
            <a:extLst>
              <a:ext uri="{FF2B5EF4-FFF2-40B4-BE49-F238E27FC236}">
                <a16:creationId xmlns:a16="http://schemas.microsoft.com/office/drawing/2014/main" id="{07EE30DA-19E0-814D-A3EA-6B7EA6E26338}"/>
              </a:ext>
            </a:extLst>
          </p:cNvPr>
          <p:cNvPicPr>
            <a:picLocks noChangeAspect="1"/>
          </p:cNvPicPr>
          <p:nvPr userDrawn="1"/>
        </p:nvPicPr>
        <p:blipFill>
          <a:blip r:embed="rId8"/>
          <a:stretch>
            <a:fillRect/>
          </a:stretch>
        </p:blipFill>
        <p:spPr>
          <a:xfrm>
            <a:off x="6156734" y="4568750"/>
            <a:ext cx="2267266" cy="476316"/>
          </a:xfrm>
          <a:prstGeom prst="rect">
            <a:avLst/>
          </a:prstGeom>
        </p:spPr>
      </p:pic>
    </p:spTree>
  </p:cSld>
  <p:clrMap bg1="lt1" tx1="dk1" bg2="dk2" tx2="lt2" accent1="accent1" accent2="accent2" accent3="accent3" accent4="accent4" accent5="accent5" accent6="accent6" hlink="hlink" folHlink="folHlink"/>
  <p:sldLayoutIdLst>
    <p:sldLayoutId id="2147483650" r:id="rId1"/>
    <p:sldLayoutId id="2147483658" r:id="rId2"/>
    <p:sldLayoutId id="2147483672" r:id="rId3"/>
    <p:sldLayoutId id="2147483675" r:id="rId4"/>
    <p:sldLayoutId id="2147483676" r:id="rId5"/>
    <p:sldLayoutId id="2147483677" r:id="rId6"/>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ramasandeep-2003"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8;p1">
            <a:extLst>
              <a:ext uri="{FF2B5EF4-FFF2-40B4-BE49-F238E27FC236}">
                <a16:creationId xmlns:a16="http://schemas.microsoft.com/office/drawing/2014/main" id="{0EB09CDE-A4D9-6E0F-6A93-6F5BB28F0D15}"/>
              </a:ext>
            </a:extLst>
          </p:cNvPr>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5" name="Picture 4">
            <a:extLst>
              <a:ext uri="{FF2B5EF4-FFF2-40B4-BE49-F238E27FC236}">
                <a16:creationId xmlns:a16="http://schemas.microsoft.com/office/drawing/2014/main" id="{DBB0192E-008C-9A05-2679-E0242BF4A913}"/>
              </a:ext>
            </a:extLst>
          </p:cNvPr>
          <p:cNvPicPr>
            <a:picLocks noChangeAspect="1"/>
          </p:cNvPicPr>
          <p:nvPr/>
        </p:nvPicPr>
        <p:blipFill>
          <a:blip r:embed="rId3"/>
          <a:stretch>
            <a:fillRect/>
          </a:stretch>
        </p:blipFill>
        <p:spPr>
          <a:xfrm>
            <a:off x="2576570" y="2714908"/>
            <a:ext cx="4310556" cy="780964"/>
          </a:xfrm>
          <a:prstGeom prst="rect">
            <a:avLst/>
          </a:prstGeom>
        </p:spPr>
      </p:pic>
      <p:sp>
        <p:nvSpPr>
          <p:cNvPr id="4" name="TextBox 3">
            <a:extLst>
              <a:ext uri="{FF2B5EF4-FFF2-40B4-BE49-F238E27FC236}">
                <a16:creationId xmlns:a16="http://schemas.microsoft.com/office/drawing/2014/main" id="{44EC47F5-D9F8-2EA2-288A-8AFD1C88F0B7}"/>
              </a:ext>
            </a:extLst>
          </p:cNvPr>
          <p:cNvSpPr txBox="1"/>
          <p:nvPr/>
        </p:nvSpPr>
        <p:spPr>
          <a:xfrm>
            <a:off x="5910146" y="3686068"/>
            <a:ext cx="2178205" cy="923330"/>
          </a:xfrm>
          <a:prstGeom prst="rect">
            <a:avLst/>
          </a:prstGeom>
          <a:noFill/>
        </p:spPr>
        <p:txBody>
          <a:bodyPr wrap="square">
            <a:spAutoFit/>
          </a:bodyPr>
          <a:lstStyle/>
          <a:p>
            <a:pPr marL="0" lvl="0" indent="0" eaLnBrk="0" fontAlgn="base" hangingPunct="0">
              <a:spcBef>
                <a:spcPct val="0"/>
              </a:spcBef>
              <a:spcAft>
                <a:spcPct val="0"/>
              </a:spcAft>
              <a:buClrTx/>
              <a:buSzTx/>
            </a:pPr>
            <a:r>
              <a:rPr lang="en-US" altLang="en-US" sz="1800" b="1" dirty="0">
                <a:solidFill>
                  <a:schemeClr val="tx1"/>
                </a:solidFill>
                <a:latin typeface="Times New Roman" panose="02020603050405020304" pitchFamily="18" charset="0"/>
                <a:cs typeface="Times New Roman" panose="02020603050405020304" pitchFamily="18" charset="0"/>
              </a:rPr>
              <a:t>Presented By:</a:t>
            </a:r>
          </a:p>
          <a:p>
            <a:pPr marL="0" lvl="0" indent="0" eaLnBrk="0" fontAlgn="base" hangingPunct="0">
              <a:spcBef>
                <a:spcPct val="0"/>
              </a:spcBef>
              <a:spcAft>
                <a:spcPct val="0"/>
              </a:spcAft>
              <a:buClrTx/>
              <a:buSzTx/>
            </a:pPr>
            <a:r>
              <a:rPr lang="en-US" altLang="en-US" sz="1800" b="1" dirty="0">
                <a:solidFill>
                  <a:schemeClr val="tx1"/>
                </a:solidFill>
                <a:latin typeface="Times New Roman" panose="02020603050405020304" pitchFamily="18" charset="0"/>
                <a:cs typeface="Times New Roman" panose="02020603050405020304" pitchFamily="18" charset="0"/>
              </a:rPr>
              <a:t> S. Madhulatha</a:t>
            </a:r>
          </a:p>
          <a:p>
            <a:pPr marL="0" lvl="0" indent="0" eaLnBrk="0" fontAlgn="base" hangingPunct="0">
              <a:spcBef>
                <a:spcPct val="0"/>
              </a:spcBef>
              <a:spcAft>
                <a:spcPct val="0"/>
              </a:spcAft>
              <a:buClrTx/>
              <a:buSzTx/>
            </a:pPr>
            <a:r>
              <a:rPr lang="en-US" sz="1800" b="1" dirty="0">
                <a:solidFill>
                  <a:schemeClr val="tx1"/>
                </a:solidFill>
                <a:latin typeface="Times New Roman" panose="02020603050405020304" pitchFamily="18" charset="0"/>
                <a:cs typeface="Times New Roman" panose="02020603050405020304" pitchFamily="18" charset="0"/>
              </a:rPr>
              <a:t> </a:t>
            </a:r>
            <a:endParaRPr lang="en-IN" sz="1800" b="1" dirty="0"/>
          </a:p>
        </p:txBody>
      </p:sp>
    </p:spTree>
    <p:extLst>
      <p:ext uri="{BB962C8B-B14F-4D97-AF65-F5344CB8AC3E}">
        <p14:creationId xmlns:p14="http://schemas.microsoft.com/office/powerpoint/2010/main" val="1677044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4462F75-83F4-DE0F-9F7E-CDE41C6DFF9C}"/>
              </a:ext>
            </a:extLst>
          </p:cNvPr>
          <p:cNvSpPr>
            <a:spLocks noGrp="1"/>
          </p:cNvSpPr>
          <p:nvPr>
            <p:ph type="body" idx="1"/>
          </p:nvPr>
        </p:nvSpPr>
        <p:spPr/>
        <p:txBody>
          <a:bodyPr/>
          <a:lstStyle/>
          <a:p>
            <a:r>
              <a:rPr lang="en-US" sz="1800" dirty="0">
                <a:latin typeface="Times New Roman" panose="02020603050405020304" pitchFamily="18" charset="0"/>
                <a:cs typeface="Times New Roman" panose="02020603050405020304" pitchFamily="18" charset="0"/>
              </a:rPr>
              <a:t>I don't have traditional, full-time work experience, but I completed a three-month internship with </a:t>
            </a:r>
            <a:r>
              <a:rPr lang="en-US" sz="1800" b="1" dirty="0">
                <a:latin typeface="Times New Roman" panose="02020603050405020304" pitchFamily="18" charset="0"/>
                <a:cs typeface="Times New Roman" panose="02020603050405020304" pitchFamily="18" charset="0"/>
              </a:rPr>
              <a:t>Next Hub Technologies</a:t>
            </a:r>
            <a:r>
              <a:rPr lang="en-US" sz="1800" dirty="0">
                <a:latin typeface="Times New Roman" panose="02020603050405020304" pitchFamily="18" charset="0"/>
                <a:cs typeface="Times New Roman" panose="02020603050405020304" pitchFamily="18" charset="0"/>
              </a:rPr>
              <a:t> in the field of data science . During that internship, I worked on a project where I </a:t>
            </a:r>
            <a:r>
              <a:rPr lang="en-US" sz="1800" b="1" dirty="0">
                <a:latin typeface="Times New Roman" panose="02020603050405020304" pitchFamily="18" charset="0"/>
                <a:cs typeface="Times New Roman" panose="02020603050405020304" pitchFamily="18" charset="0"/>
              </a:rPr>
              <a:t>understanding of Data-Analytics in Dashboard and Machine Learning model </a:t>
            </a:r>
            <a:r>
              <a:rPr lang="en-US" sz="1800" dirty="0">
                <a:latin typeface="Times New Roman" panose="02020603050405020304" pitchFamily="18" charset="0"/>
                <a:cs typeface="Times New Roman" panose="02020603050405020304" pitchFamily="18" charset="0"/>
              </a:rPr>
              <a:t>. I was responsible for cleaning the data, performing exploratory analysis, and creating reports. It was a great opportunity for me to apply the skills I learned in my B.Tech to a real-world business problem</a:t>
            </a:r>
          </a:p>
          <a:p>
            <a:r>
              <a:rPr lang="en-IN" sz="1800" b="1" dirty="0">
                <a:latin typeface="Times New Roman" panose="02020603050405020304" pitchFamily="18" charset="0"/>
                <a:cs typeface="Times New Roman" panose="02020603050405020304" pitchFamily="18" charset="0"/>
              </a:rPr>
              <a:t>LinkedIn : </a:t>
            </a:r>
            <a:r>
              <a:rPr lang="en-IN" sz="1800" dirty="0">
                <a:latin typeface="Times New Roman" panose="02020603050405020304" pitchFamily="18" charset="0"/>
                <a:cs typeface="Times New Roman" panose="02020603050405020304" pitchFamily="18" charset="0"/>
              </a:rPr>
              <a:t>www.linkedin.com/in/sure-madhu-latha-197a2a27a</a:t>
            </a:r>
          </a:p>
          <a:p>
            <a:r>
              <a:rPr lang="en-IN" sz="1800" b="1" dirty="0">
                <a:latin typeface="Times New Roman" panose="02020603050405020304" pitchFamily="18" charset="0"/>
                <a:cs typeface="Times New Roman" panose="02020603050405020304" pitchFamily="18" charset="0"/>
              </a:rPr>
              <a:t>GitHub: </a:t>
            </a:r>
            <a:r>
              <a:rPr lang="en-IN" sz="1800" b="1" dirty="0">
                <a:latin typeface="Times New Roman" panose="02020603050405020304" pitchFamily="18" charset="0"/>
                <a:cs typeface="Times New Roman" panose="02020603050405020304" pitchFamily="18" charset="0"/>
                <a:hlinkClick r:id="rId2"/>
              </a:rPr>
              <a:t>https://github.com/Madhu241203</a:t>
            </a:r>
            <a:endParaRPr lang="en-IN" sz="1800" b="1" dirty="0">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385E8563-29C3-45B2-2FBF-60B29E83547B}"/>
              </a:ext>
            </a:extLst>
          </p:cNvPr>
          <p:cNvSpPr>
            <a:spLocks noGrp="1"/>
          </p:cNvSpPr>
          <p:nvPr>
            <p:ph type="title"/>
          </p:nvPr>
        </p:nvSpPr>
        <p:spPr/>
        <p:txBody>
          <a:bodyPr/>
          <a:lstStyle/>
          <a:p>
            <a:r>
              <a:rPr lang="en-IN" sz="2400" b="1" dirty="0">
                <a:latin typeface="Times New Roman" panose="02020603050405020304" pitchFamily="18" charset="0"/>
                <a:cs typeface="Times New Roman" panose="02020603050405020304" pitchFamily="18" charset="0"/>
              </a:rPr>
              <a:t>Experience and linkedin and GitHub URLs</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61248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787A23-7B8A-0EA9-4DE2-CF422DC3FD02}"/>
              </a:ext>
            </a:extLst>
          </p:cNvPr>
          <p:cNvSpPr>
            <a:spLocks noGrp="1"/>
          </p:cNvSpPr>
          <p:nvPr>
            <p:ph type="title"/>
          </p:nvPr>
        </p:nvSpPr>
        <p:spPr>
          <a:xfrm>
            <a:off x="2652878" y="35722"/>
            <a:ext cx="2491551" cy="612600"/>
          </a:xfrm>
        </p:spPr>
        <p:txBody>
          <a:bodyPr/>
          <a:lstStyle/>
          <a:p>
            <a:r>
              <a:rPr lang="en-US" sz="2800" b="1" dirty="0">
                <a:latin typeface="Times New Roman" panose="02020603050405020304" pitchFamily="18" charset="0"/>
                <a:cs typeface="Times New Roman" panose="02020603050405020304" pitchFamily="18" charset="0"/>
              </a:rPr>
              <a:t>Introduction</a:t>
            </a:r>
            <a:endParaRPr lang="en-IN" sz="2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0F2CF33A-625F-3AE6-86B1-FAA2825C87FA}"/>
              </a:ext>
            </a:extLst>
          </p:cNvPr>
          <p:cNvSpPr>
            <a:spLocks noGrp="1" noChangeArrowheads="1"/>
          </p:cNvSpPr>
          <p:nvPr>
            <p:ph type="body" idx="1"/>
          </p:nvPr>
        </p:nvSpPr>
        <p:spPr bwMode="auto">
          <a:xfrm>
            <a:off x="251650" y="523384"/>
            <a:ext cx="770400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music industry produces vast amounts of data related to customers, artists, albums, and sales every day. Managing and analyzing this information is essential for improving performance and understanding customer preferences. Without a proper system, this data remains scattered and difficult to use effectively.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Music Store Database Management System</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aims to organize and store all music-related information in a single, well-structured relational SQL database. It connects key entities such as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artists, albums, tracks, genres, employees, customers, and invoices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data consistency and easy retrieval.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Through this project, various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 queries and analytical operations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used to generate insights like identifying top customers, best-selling artists, popular genres, and cities generating the highest revenue.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project highlights how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SQL-based database design and analysis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transform unorganized data into useful business insights for better decision-making and operational efficiency.</a:t>
            </a:r>
          </a:p>
        </p:txBody>
      </p:sp>
    </p:spTree>
    <p:extLst>
      <p:ext uri="{BB962C8B-B14F-4D97-AF65-F5344CB8AC3E}">
        <p14:creationId xmlns:p14="http://schemas.microsoft.com/office/powerpoint/2010/main" val="1240266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6"/>
          <p:cNvSpPr txBox="1">
            <a:spLocks noGrp="1"/>
          </p:cNvSpPr>
          <p:nvPr>
            <p:ph type="title"/>
          </p:nvPr>
        </p:nvSpPr>
        <p:spPr>
          <a:xfrm>
            <a:off x="720000" y="149707"/>
            <a:ext cx="7704000" cy="612600"/>
          </a:xfrm>
          <a:prstGeom prst="rect">
            <a:avLst/>
          </a:prstGeom>
        </p:spPr>
        <p:txBody>
          <a:bodyPr spcFirstLastPara="1" wrap="square" lIns="91425" tIns="91425" rIns="91425" bIns="91425" anchor="t" anchorCtr="0">
            <a:noAutofit/>
          </a:bodyPr>
          <a:lstStyle/>
          <a:p>
            <a:pPr lvl="0"/>
            <a:r>
              <a:rPr lang="en-US" b="1" dirty="0">
                <a:latin typeface="Times New Roman" panose="02020603050405020304" pitchFamily="18" charset="0"/>
                <a:cs typeface="Times New Roman" panose="02020603050405020304" pitchFamily="18" charset="0"/>
              </a:rPr>
              <a:t>P</a:t>
            </a:r>
            <a:r>
              <a:rPr lang="en-IN" b="1" dirty="0" err="1">
                <a:latin typeface="Times New Roman" panose="02020603050405020304" pitchFamily="18" charset="0"/>
                <a:cs typeface="Times New Roman" panose="02020603050405020304" pitchFamily="18" charset="0"/>
              </a:rPr>
              <a:t>roblem</a:t>
            </a:r>
            <a:r>
              <a:rPr lang="en-IN" b="1" dirty="0">
                <a:latin typeface="Times New Roman" panose="02020603050405020304" pitchFamily="18" charset="0"/>
                <a:cs typeface="Times New Roman" panose="02020603050405020304" pitchFamily="18" charset="0"/>
              </a:rPr>
              <a:t> Statement</a:t>
            </a:r>
            <a:endParaRPr b="1" dirty="0">
              <a:latin typeface="Times New Roman" panose="02020603050405020304" pitchFamily="18" charset="0"/>
              <a:cs typeface="Times New Roman" panose="02020603050405020304" pitchFamily="18" charset="0"/>
            </a:endParaRPr>
          </a:p>
        </p:txBody>
      </p:sp>
      <p:sp>
        <p:nvSpPr>
          <p:cNvPr id="312" name="Google Shape;312;p36"/>
          <p:cNvSpPr txBox="1">
            <a:spLocks noGrp="1"/>
          </p:cNvSpPr>
          <p:nvPr>
            <p:ph type="body" idx="1"/>
          </p:nvPr>
        </p:nvSpPr>
        <p:spPr>
          <a:xfrm>
            <a:off x="141249" y="762307"/>
            <a:ext cx="7828156" cy="3619800"/>
          </a:xfrm>
          <a:prstGeom prst="rect">
            <a:avLst/>
          </a:prstGeom>
        </p:spPr>
        <p:txBody>
          <a:bodyPr spcFirstLastPara="1" wrap="square" lIns="91425" tIns="91425" rIns="91425" bIns="91425" anchor="t" anchorCtr="0">
            <a:noAutofit/>
          </a:bodyPr>
          <a:lstStyle/>
          <a:p>
            <a:pPr marL="152400" indent="0" algn="just">
              <a:buNone/>
            </a:pPr>
            <a:r>
              <a:rPr lang="en-US" sz="1600" dirty="0">
                <a:latin typeface="Times New Roman" panose="02020603050405020304" pitchFamily="18" charset="0"/>
                <a:cs typeface="Times New Roman" panose="02020603050405020304" pitchFamily="18" charset="0"/>
              </a:rPr>
              <a:t> In today’s digital music industry, managing large volumes of data about artists, albums, tracks, customers, and sales is a major challenge. The data is often scattered, making it difficult to analyze performance, customer behavior, and revenue trends. To address this issue, a </a:t>
            </a:r>
            <a:r>
              <a:rPr lang="en-US" sz="1600" b="1" dirty="0">
                <a:latin typeface="Times New Roman" panose="02020603050405020304" pitchFamily="18" charset="0"/>
                <a:cs typeface="Times New Roman" panose="02020603050405020304" pitchFamily="18" charset="0"/>
              </a:rPr>
              <a:t>Music Store Database</a:t>
            </a:r>
            <a:r>
              <a:rPr lang="en-US" sz="1600" dirty="0">
                <a:latin typeface="Times New Roman" panose="02020603050405020304" pitchFamily="18" charset="0"/>
                <a:cs typeface="Times New Roman" panose="02020603050405020304" pitchFamily="18" charset="0"/>
              </a:rPr>
              <a:t> is designed to store and manage all music-related data in a structured and centralized manner.</a:t>
            </a:r>
          </a:p>
          <a:p>
            <a:pPr marL="152400" indent="0" algn="just">
              <a:buNone/>
            </a:pPr>
            <a:r>
              <a:rPr lang="en-US" sz="1600" dirty="0">
                <a:latin typeface="Times New Roman" panose="02020603050405020304" pitchFamily="18" charset="0"/>
                <a:cs typeface="Times New Roman" panose="02020603050405020304" pitchFamily="18" charset="0"/>
              </a:rPr>
              <a:t>         </a:t>
            </a:r>
          </a:p>
          <a:p>
            <a:pPr marL="152400" indent="0" algn="just">
              <a:buNone/>
            </a:pPr>
            <a:r>
              <a:rPr lang="en-US" sz="1600" dirty="0">
                <a:latin typeface="Times New Roman" panose="02020603050405020304" pitchFamily="18" charset="0"/>
                <a:cs typeface="Times New Roman" panose="02020603050405020304" pitchFamily="18" charset="0"/>
              </a:rPr>
              <a:t>   The project focuses on creating a </a:t>
            </a:r>
            <a:r>
              <a:rPr lang="en-US" sz="1600" b="1" dirty="0">
                <a:latin typeface="Times New Roman" panose="02020603050405020304" pitchFamily="18" charset="0"/>
                <a:cs typeface="Times New Roman" panose="02020603050405020304" pitchFamily="18" charset="0"/>
              </a:rPr>
              <a:t>relational SQL database</a:t>
            </a:r>
            <a:r>
              <a:rPr lang="en-US" sz="1600" dirty="0">
                <a:latin typeface="Times New Roman" panose="02020603050405020304" pitchFamily="18" charset="0"/>
                <a:cs typeface="Times New Roman" panose="02020603050405020304" pitchFamily="18" charset="0"/>
              </a:rPr>
              <a:t> that connects key entities like employees, customers, artists, albums, invoices, and playlists. It aims to simplify data retrieval and provide insights into business performance. Through SQL queries and analytical techniques, the project helps identify </a:t>
            </a:r>
            <a:r>
              <a:rPr lang="en-US" sz="1600" b="1" dirty="0">
                <a:latin typeface="Times New Roman" panose="02020603050405020304" pitchFamily="18" charset="0"/>
                <a:cs typeface="Times New Roman" panose="02020603050405020304" pitchFamily="18" charset="0"/>
              </a:rPr>
              <a:t>top customers, best-selling artists, popular genres, high-revenue cities, and senior employees</a:t>
            </a:r>
            <a:r>
              <a:rPr lang="en-US" sz="1600" dirty="0">
                <a:latin typeface="Times New Roman" panose="02020603050405020304" pitchFamily="18" charset="0"/>
                <a:cs typeface="Times New Roman" panose="02020603050405020304" pitchFamily="18" charset="0"/>
              </a:rPr>
              <a:t>.</a:t>
            </a:r>
          </a:p>
          <a:p>
            <a:pPr marL="152400" indent="0" algn="just">
              <a:buNone/>
            </a:pPr>
            <a:endParaRPr lang="en-US" sz="1600" dirty="0">
              <a:latin typeface="Times New Roman" panose="02020603050405020304" pitchFamily="18" charset="0"/>
              <a:cs typeface="Times New Roman" panose="02020603050405020304" pitchFamily="18" charset="0"/>
            </a:endParaRPr>
          </a:p>
          <a:p>
            <a:pPr marL="152400" indent="0" algn="just">
              <a:buNone/>
            </a:pPr>
            <a:r>
              <a:rPr lang="en-US" sz="1600" dirty="0">
                <a:latin typeface="Times New Roman" panose="02020603050405020304" pitchFamily="18" charset="0"/>
                <a:cs typeface="Times New Roman" panose="02020603050405020304" pitchFamily="18" charset="0"/>
              </a:rPr>
              <a:t>   This system enables </a:t>
            </a:r>
            <a:r>
              <a:rPr lang="en-US" sz="1600" b="1" dirty="0">
                <a:latin typeface="Times New Roman" panose="02020603050405020304" pitchFamily="18" charset="0"/>
                <a:cs typeface="Times New Roman" panose="02020603050405020304" pitchFamily="18" charset="0"/>
              </a:rPr>
              <a:t>efficient data management</a:t>
            </a:r>
            <a:r>
              <a:rPr lang="en-US" sz="1600" dirty="0">
                <a:latin typeface="Times New Roman" panose="02020603050405020304" pitchFamily="18" charset="0"/>
                <a:cs typeface="Times New Roman" panose="02020603050405020304" pitchFamily="18" charset="0"/>
              </a:rPr>
              <a:t> and supports </a:t>
            </a:r>
            <a:r>
              <a:rPr lang="en-US" sz="1600" b="1" dirty="0">
                <a:latin typeface="Times New Roman" panose="02020603050405020304" pitchFamily="18" charset="0"/>
                <a:cs typeface="Times New Roman" panose="02020603050405020304" pitchFamily="18" charset="0"/>
              </a:rPr>
              <a:t>data-driven decisions</a:t>
            </a:r>
            <a:r>
              <a:rPr lang="en-US" sz="1600" dirty="0">
                <a:latin typeface="Times New Roman" panose="02020603050405020304" pitchFamily="18" charset="0"/>
                <a:cs typeface="Times New Roman" panose="02020603050405020304" pitchFamily="18" charset="0"/>
              </a:rPr>
              <a:t> using advanced SQL features such as joins, aggregations, subqueries, and CTEs.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D85B79-7F0E-1BFC-63D9-F41F07F5D32E}"/>
              </a:ext>
            </a:extLst>
          </p:cNvPr>
          <p:cNvSpPr>
            <a:spLocks noGrp="1"/>
          </p:cNvSpPr>
          <p:nvPr>
            <p:ph type="body" idx="1"/>
          </p:nvPr>
        </p:nvSpPr>
        <p:spPr>
          <a:xfrm>
            <a:off x="89210" y="572429"/>
            <a:ext cx="7785790" cy="4160096"/>
          </a:xfrm>
        </p:spPr>
        <p:txBody>
          <a:bodyPr/>
          <a:lstStyle/>
          <a:p>
            <a:pPr marL="152400" indent="0">
              <a:buNone/>
            </a:pPr>
            <a:r>
              <a:rPr lang="en-US" sz="1600" b="1" dirty="0">
                <a:latin typeface="Times New Roman" panose="02020603050405020304" pitchFamily="18" charset="0"/>
                <a:cs typeface="Times New Roman" panose="02020603050405020304" pitchFamily="18" charset="0"/>
              </a:rPr>
              <a:t>                Genre table                                              MediaType Table   </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a:latin typeface="Times New Roman" panose="02020603050405020304" pitchFamily="18" charset="0"/>
                <a:cs typeface="Times New Roman" panose="02020603050405020304" pitchFamily="18" charset="0"/>
              </a:rPr>
              <a:t>             </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a:latin typeface="Times New Roman" panose="02020603050405020304" pitchFamily="18" charset="0"/>
                <a:cs typeface="Times New Roman" panose="02020603050405020304" pitchFamily="18" charset="0"/>
              </a:rPr>
              <a:t>                         Employee Table                                         Customer Table</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ABA4C208-32D8-D6AD-D699-A9C772594191}"/>
              </a:ext>
            </a:extLst>
          </p:cNvPr>
          <p:cNvSpPr>
            <a:spLocks noGrp="1"/>
          </p:cNvSpPr>
          <p:nvPr>
            <p:ph type="title"/>
          </p:nvPr>
        </p:nvSpPr>
        <p:spPr>
          <a:xfrm>
            <a:off x="3136098" y="0"/>
            <a:ext cx="1435902" cy="572429"/>
          </a:xfrm>
        </p:spPr>
        <p:txBody>
          <a:bodyPr/>
          <a:lstStyle/>
          <a:p>
            <a:r>
              <a:rPr lang="en-US" sz="2800" b="1" dirty="0">
                <a:latin typeface="Times New Roman" panose="02020603050405020304" pitchFamily="18" charset="0"/>
                <a:cs typeface="Times New Roman" panose="02020603050405020304" pitchFamily="18" charset="0"/>
              </a:rPr>
              <a:t>Tables</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A4210F1-A046-68F4-C0D2-2F9559026EF9}"/>
              </a:ext>
            </a:extLst>
          </p:cNvPr>
          <p:cNvPicPr>
            <a:picLocks noChangeAspect="1"/>
          </p:cNvPicPr>
          <p:nvPr/>
        </p:nvPicPr>
        <p:blipFill>
          <a:blip r:embed="rId2"/>
          <a:stretch>
            <a:fillRect/>
          </a:stretch>
        </p:blipFill>
        <p:spPr>
          <a:xfrm>
            <a:off x="342342" y="928261"/>
            <a:ext cx="2950245" cy="732899"/>
          </a:xfrm>
          <a:prstGeom prst="rect">
            <a:avLst/>
          </a:prstGeom>
        </p:spPr>
      </p:pic>
      <p:pic>
        <p:nvPicPr>
          <p:cNvPr id="7" name="Picture 6">
            <a:extLst>
              <a:ext uri="{FF2B5EF4-FFF2-40B4-BE49-F238E27FC236}">
                <a16:creationId xmlns:a16="http://schemas.microsoft.com/office/drawing/2014/main" id="{AA22F298-A18E-9189-3BD2-94CB9BB54674}"/>
              </a:ext>
            </a:extLst>
          </p:cNvPr>
          <p:cNvPicPr>
            <a:picLocks noChangeAspect="1"/>
          </p:cNvPicPr>
          <p:nvPr/>
        </p:nvPicPr>
        <p:blipFill>
          <a:blip r:embed="rId3"/>
          <a:stretch>
            <a:fillRect/>
          </a:stretch>
        </p:blipFill>
        <p:spPr>
          <a:xfrm>
            <a:off x="3982105" y="928261"/>
            <a:ext cx="3060135" cy="732899"/>
          </a:xfrm>
          <a:prstGeom prst="rect">
            <a:avLst/>
          </a:prstGeom>
        </p:spPr>
      </p:pic>
      <p:pic>
        <p:nvPicPr>
          <p:cNvPr id="9" name="Picture 8">
            <a:extLst>
              <a:ext uri="{FF2B5EF4-FFF2-40B4-BE49-F238E27FC236}">
                <a16:creationId xmlns:a16="http://schemas.microsoft.com/office/drawing/2014/main" id="{BB97252E-AF2E-7EF5-4109-0C7971961C18}"/>
              </a:ext>
            </a:extLst>
          </p:cNvPr>
          <p:cNvPicPr>
            <a:picLocks noChangeAspect="1"/>
          </p:cNvPicPr>
          <p:nvPr/>
        </p:nvPicPr>
        <p:blipFill>
          <a:blip r:embed="rId4"/>
          <a:stretch>
            <a:fillRect/>
          </a:stretch>
        </p:blipFill>
        <p:spPr>
          <a:xfrm>
            <a:off x="422321" y="2523044"/>
            <a:ext cx="3559784" cy="1918594"/>
          </a:xfrm>
          <a:prstGeom prst="rect">
            <a:avLst/>
          </a:prstGeom>
        </p:spPr>
      </p:pic>
      <p:pic>
        <p:nvPicPr>
          <p:cNvPr id="11" name="Picture 10">
            <a:extLst>
              <a:ext uri="{FF2B5EF4-FFF2-40B4-BE49-F238E27FC236}">
                <a16:creationId xmlns:a16="http://schemas.microsoft.com/office/drawing/2014/main" id="{828BC27F-68A6-6F2F-2080-7E4F3D43E506}"/>
              </a:ext>
            </a:extLst>
          </p:cNvPr>
          <p:cNvPicPr>
            <a:picLocks noChangeAspect="1"/>
          </p:cNvPicPr>
          <p:nvPr/>
        </p:nvPicPr>
        <p:blipFill>
          <a:blip r:embed="rId5"/>
          <a:stretch>
            <a:fillRect/>
          </a:stretch>
        </p:blipFill>
        <p:spPr>
          <a:xfrm>
            <a:off x="4494971" y="2470501"/>
            <a:ext cx="3216470" cy="1840800"/>
          </a:xfrm>
          <a:prstGeom prst="rect">
            <a:avLst/>
          </a:prstGeom>
        </p:spPr>
      </p:pic>
    </p:spTree>
    <p:extLst>
      <p:ext uri="{BB962C8B-B14F-4D97-AF65-F5344CB8AC3E}">
        <p14:creationId xmlns:p14="http://schemas.microsoft.com/office/powerpoint/2010/main" val="1695984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F9677F-1798-9BBC-4076-186B9618F507}"/>
              </a:ext>
            </a:extLst>
          </p:cNvPr>
          <p:cNvSpPr>
            <a:spLocks noGrp="1"/>
          </p:cNvSpPr>
          <p:nvPr>
            <p:ph type="body" idx="1"/>
          </p:nvPr>
        </p:nvSpPr>
        <p:spPr>
          <a:xfrm>
            <a:off x="0" y="586740"/>
            <a:ext cx="7875000" cy="4145785"/>
          </a:xfrm>
        </p:spPr>
        <p:txBody>
          <a:bodyPr/>
          <a:lstStyle/>
          <a:p>
            <a:pPr marL="152400" indent="0">
              <a:buNone/>
            </a:pPr>
            <a:r>
              <a:rPr lang="en-US" sz="1600" b="1" dirty="0">
                <a:latin typeface="Times New Roman" panose="02020603050405020304" pitchFamily="18" charset="0"/>
                <a:cs typeface="Times New Roman" panose="02020603050405020304" pitchFamily="18" charset="0"/>
              </a:rPr>
              <a:t>           Artist Table                                                                Album Table</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a:latin typeface="Times New Roman" panose="02020603050405020304" pitchFamily="18" charset="0"/>
                <a:cs typeface="Times New Roman" panose="02020603050405020304" pitchFamily="18" charset="0"/>
              </a:rPr>
              <a:t>                 Track Table                                                                  Invoice Table</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err="1">
                <a:latin typeface="Times New Roman" panose="02020603050405020304" pitchFamily="18" charset="0"/>
                <a:cs typeface="Times New Roman" panose="02020603050405020304" pitchFamily="18" charset="0"/>
              </a:rPr>
              <a:t>Invoiceline</a:t>
            </a:r>
            <a:r>
              <a:rPr lang="en-US" sz="1600" b="1" dirty="0">
                <a:latin typeface="Times New Roman" panose="02020603050405020304" pitchFamily="18" charset="0"/>
                <a:cs typeface="Times New Roman" panose="02020603050405020304" pitchFamily="18" charset="0"/>
              </a:rPr>
              <a:t> Table       </a:t>
            </a:r>
            <a:endParaRPr lang="en-IN" sz="1600" b="1"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55CB4BF-23DD-8D58-6B22-DA60E4657DF3}"/>
              </a:ext>
            </a:extLst>
          </p:cNvPr>
          <p:cNvSpPr>
            <a:spLocks noGrp="1"/>
          </p:cNvSpPr>
          <p:nvPr>
            <p:ph type="title"/>
          </p:nvPr>
        </p:nvSpPr>
        <p:spPr>
          <a:xfrm>
            <a:off x="3127920" y="55655"/>
            <a:ext cx="1261200" cy="710640"/>
          </a:xfrm>
        </p:spPr>
        <p:txBody>
          <a:bodyPr/>
          <a:lstStyle/>
          <a:p>
            <a:r>
              <a:rPr lang="en-US" sz="2800" b="1" dirty="0">
                <a:latin typeface="Times New Roman" panose="02020603050405020304" pitchFamily="18" charset="0"/>
                <a:cs typeface="Times New Roman" panose="02020603050405020304" pitchFamily="18" charset="0"/>
              </a:rPr>
              <a:t>Tables</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CA1AC5B-9F02-38FD-9316-E24E9C645E38}"/>
              </a:ext>
            </a:extLst>
          </p:cNvPr>
          <p:cNvPicPr>
            <a:picLocks noChangeAspect="1"/>
          </p:cNvPicPr>
          <p:nvPr/>
        </p:nvPicPr>
        <p:blipFill>
          <a:blip r:embed="rId2"/>
          <a:stretch>
            <a:fillRect/>
          </a:stretch>
        </p:blipFill>
        <p:spPr>
          <a:xfrm>
            <a:off x="254418" y="1048653"/>
            <a:ext cx="2610701" cy="612508"/>
          </a:xfrm>
          <a:prstGeom prst="rect">
            <a:avLst/>
          </a:prstGeom>
        </p:spPr>
      </p:pic>
      <p:pic>
        <p:nvPicPr>
          <p:cNvPr id="7" name="Picture 6">
            <a:extLst>
              <a:ext uri="{FF2B5EF4-FFF2-40B4-BE49-F238E27FC236}">
                <a16:creationId xmlns:a16="http://schemas.microsoft.com/office/drawing/2014/main" id="{09377A10-18B2-D0F0-1C41-67CD25F63236}"/>
              </a:ext>
            </a:extLst>
          </p:cNvPr>
          <p:cNvPicPr>
            <a:picLocks noChangeAspect="1"/>
          </p:cNvPicPr>
          <p:nvPr/>
        </p:nvPicPr>
        <p:blipFill>
          <a:blip r:embed="rId3"/>
          <a:stretch>
            <a:fillRect/>
          </a:stretch>
        </p:blipFill>
        <p:spPr>
          <a:xfrm>
            <a:off x="4224459" y="1000575"/>
            <a:ext cx="3456501" cy="660586"/>
          </a:xfrm>
          <a:prstGeom prst="rect">
            <a:avLst/>
          </a:prstGeom>
        </p:spPr>
      </p:pic>
      <p:pic>
        <p:nvPicPr>
          <p:cNvPr id="9" name="Picture 8">
            <a:extLst>
              <a:ext uri="{FF2B5EF4-FFF2-40B4-BE49-F238E27FC236}">
                <a16:creationId xmlns:a16="http://schemas.microsoft.com/office/drawing/2014/main" id="{FDC4FD6E-1997-906B-364C-32AA3CAC3BFB}"/>
              </a:ext>
            </a:extLst>
          </p:cNvPr>
          <p:cNvPicPr>
            <a:picLocks noChangeAspect="1"/>
          </p:cNvPicPr>
          <p:nvPr/>
        </p:nvPicPr>
        <p:blipFill>
          <a:blip r:embed="rId4"/>
          <a:stretch>
            <a:fillRect/>
          </a:stretch>
        </p:blipFill>
        <p:spPr>
          <a:xfrm>
            <a:off x="254418" y="2192246"/>
            <a:ext cx="3771900" cy="2266777"/>
          </a:xfrm>
          <a:prstGeom prst="rect">
            <a:avLst/>
          </a:prstGeom>
        </p:spPr>
      </p:pic>
      <p:pic>
        <p:nvPicPr>
          <p:cNvPr id="11" name="Picture 10">
            <a:extLst>
              <a:ext uri="{FF2B5EF4-FFF2-40B4-BE49-F238E27FC236}">
                <a16:creationId xmlns:a16="http://schemas.microsoft.com/office/drawing/2014/main" id="{8624068C-CBE9-EFA6-96F7-CF2035952FF4}"/>
              </a:ext>
            </a:extLst>
          </p:cNvPr>
          <p:cNvPicPr>
            <a:picLocks noChangeAspect="1"/>
          </p:cNvPicPr>
          <p:nvPr/>
        </p:nvPicPr>
        <p:blipFill>
          <a:blip r:embed="rId5"/>
          <a:stretch>
            <a:fillRect/>
          </a:stretch>
        </p:blipFill>
        <p:spPr>
          <a:xfrm>
            <a:off x="4389120" y="2192246"/>
            <a:ext cx="3660824" cy="2069692"/>
          </a:xfrm>
          <a:prstGeom prst="rect">
            <a:avLst/>
          </a:prstGeom>
        </p:spPr>
      </p:pic>
    </p:spTree>
    <p:extLst>
      <p:ext uri="{BB962C8B-B14F-4D97-AF65-F5344CB8AC3E}">
        <p14:creationId xmlns:p14="http://schemas.microsoft.com/office/powerpoint/2010/main" val="4054114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497CA8-CBE7-424E-227E-5035F2F5FE40}"/>
              </a:ext>
            </a:extLst>
          </p:cNvPr>
          <p:cNvSpPr>
            <a:spLocks noGrp="1"/>
          </p:cNvSpPr>
          <p:nvPr>
            <p:ph type="body" idx="1"/>
          </p:nvPr>
        </p:nvSpPr>
        <p:spPr>
          <a:xfrm>
            <a:off x="59473" y="520390"/>
            <a:ext cx="8794595" cy="4212135"/>
          </a:xfrm>
        </p:spPr>
        <p:txBody>
          <a:bodyPr/>
          <a:lstStyle/>
          <a:p>
            <a:pPr marL="15240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InvoiceLine</a:t>
            </a:r>
            <a:r>
              <a:rPr lang="en-US" sz="1600" b="1" dirty="0">
                <a:latin typeface="Times New Roman" panose="02020603050405020304" pitchFamily="18" charset="0"/>
                <a:cs typeface="Times New Roman" panose="02020603050405020304" pitchFamily="18" charset="0"/>
              </a:rPr>
              <a:t> Table                                                                     Playlist Table</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PlaylistTrack</a:t>
            </a:r>
            <a:r>
              <a:rPr lang="en-US" sz="1600" b="1" dirty="0">
                <a:latin typeface="Times New Roman" panose="02020603050405020304" pitchFamily="18" charset="0"/>
                <a:cs typeface="Times New Roman" panose="02020603050405020304" pitchFamily="18" charset="0"/>
              </a:rPr>
              <a:t> Table</a:t>
            </a:r>
          </a:p>
        </p:txBody>
      </p:sp>
      <p:sp>
        <p:nvSpPr>
          <p:cNvPr id="3" name="Title 2">
            <a:extLst>
              <a:ext uri="{FF2B5EF4-FFF2-40B4-BE49-F238E27FC236}">
                <a16:creationId xmlns:a16="http://schemas.microsoft.com/office/drawing/2014/main" id="{FF1F1F23-3C98-4B78-0AA5-0982A9E28CD0}"/>
              </a:ext>
            </a:extLst>
          </p:cNvPr>
          <p:cNvSpPr>
            <a:spLocks noGrp="1"/>
          </p:cNvSpPr>
          <p:nvPr>
            <p:ph type="title"/>
          </p:nvPr>
        </p:nvSpPr>
        <p:spPr>
          <a:xfrm>
            <a:off x="3574713" y="104675"/>
            <a:ext cx="1205444" cy="612600"/>
          </a:xfrm>
        </p:spPr>
        <p:txBody>
          <a:bodyPr/>
          <a:lstStyle/>
          <a:p>
            <a:r>
              <a:rPr lang="en-US" sz="2800" b="1" dirty="0">
                <a:latin typeface="Times New Roman" panose="02020603050405020304" pitchFamily="18" charset="0"/>
                <a:cs typeface="Times New Roman" panose="02020603050405020304" pitchFamily="18" charset="0"/>
              </a:rPr>
              <a:t>Tables</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6E50DA3-A10D-BF85-2C4B-8CB0FBDC980E}"/>
              </a:ext>
            </a:extLst>
          </p:cNvPr>
          <p:cNvPicPr>
            <a:picLocks noChangeAspect="1"/>
          </p:cNvPicPr>
          <p:nvPr/>
        </p:nvPicPr>
        <p:blipFill>
          <a:blip r:embed="rId2"/>
          <a:stretch>
            <a:fillRect/>
          </a:stretch>
        </p:blipFill>
        <p:spPr>
          <a:xfrm>
            <a:off x="233391" y="991422"/>
            <a:ext cx="3341322" cy="1439544"/>
          </a:xfrm>
          <a:prstGeom prst="rect">
            <a:avLst/>
          </a:prstGeom>
        </p:spPr>
      </p:pic>
      <p:pic>
        <p:nvPicPr>
          <p:cNvPr id="7" name="Picture 6">
            <a:extLst>
              <a:ext uri="{FF2B5EF4-FFF2-40B4-BE49-F238E27FC236}">
                <a16:creationId xmlns:a16="http://schemas.microsoft.com/office/drawing/2014/main" id="{C2D8A830-F9EF-3272-EDA6-EEF348358DDD}"/>
              </a:ext>
            </a:extLst>
          </p:cNvPr>
          <p:cNvPicPr>
            <a:picLocks noChangeAspect="1"/>
          </p:cNvPicPr>
          <p:nvPr/>
        </p:nvPicPr>
        <p:blipFill>
          <a:blip r:embed="rId3"/>
          <a:stretch>
            <a:fillRect/>
          </a:stretch>
        </p:blipFill>
        <p:spPr>
          <a:xfrm>
            <a:off x="4572000" y="1132990"/>
            <a:ext cx="3354861" cy="685896"/>
          </a:xfrm>
          <a:prstGeom prst="rect">
            <a:avLst/>
          </a:prstGeom>
        </p:spPr>
      </p:pic>
      <p:pic>
        <p:nvPicPr>
          <p:cNvPr id="9" name="Picture 8">
            <a:extLst>
              <a:ext uri="{FF2B5EF4-FFF2-40B4-BE49-F238E27FC236}">
                <a16:creationId xmlns:a16="http://schemas.microsoft.com/office/drawing/2014/main" id="{01618B99-4065-C42E-BDB0-E60507D064C9}"/>
              </a:ext>
            </a:extLst>
          </p:cNvPr>
          <p:cNvPicPr>
            <a:picLocks noChangeAspect="1"/>
          </p:cNvPicPr>
          <p:nvPr/>
        </p:nvPicPr>
        <p:blipFill>
          <a:blip r:embed="rId4"/>
          <a:stretch>
            <a:fillRect/>
          </a:stretch>
        </p:blipFill>
        <p:spPr>
          <a:xfrm>
            <a:off x="399468" y="3229351"/>
            <a:ext cx="4172532" cy="781159"/>
          </a:xfrm>
          <a:prstGeom prst="rect">
            <a:avLst/>
          </a:prstGeom>
        </p:spPr>
      </p:pic>
    </p:spTree>
    <p:extLst>
      <p:ext uri="{BB962C8B-B14F-4D97-AF65-F5344CB8AC3E}">
        <p14:creationId xmlns:p14="http://schemas.microsoft.com/office/powerpoint/2010/main" val="2083117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963DC-4484-0BD4-E093-947A8035CBAE}"/>
              </a:ext>
            </a:extLst>
          </p:cNvPr>
          <p:cNvSpPr>
            <a:spLocks noGrp="1"/>
          </p:cNvSpPr>
          <p:nvPr>
            <p:ph type="title"/>
          </p:nvPr>
        </p:nvSpPr>
        <p:spPr>
          <a:xfrm>
            <a:off x="1162975" y="106533"/>
            <a:ext cx="7332955" cy="754602"/>
          </a:xfrm>
        </p:spPr>
        <p:txBody>
          <a:bodyPr/>
          <a:lstStyle/>
          <a:p>
            <a:r>
              <a:rPr lang="en-IN" b="1"/>
              <a:t>ER Diagram</a:t>
            </a:r>
            <a:endParaRPr lang="en-IN"/>
          </a:p>
        </p:txBody>
      </p:sp>
      <p:sp>
        <p:nvSpPr>
          <p:cNvPr id="3" name="Subtitle 2">
            <a:extLst>
              <a:ext uri="{FF2B5EF4-FFF2-40B4-BE49-F238E27FC236}">
                <a16:creationId xmlns:a16="http://schemas.microsoft.com/office/drawing/2014/main" id="{EBF41695-13F3-37C4-C4A2-02A226C9FA03}"/>
              </a:ext>
            </a:extLst>
          </p:cNvPr>
          <p:cNvSpPr>
            <a:spLocks noGrp="1"/>
          </p:cNvSpPr>
          <p:nvPr>
            <p:ph type="subTitle" idx="1"/>
          </p:nvPr>
        </p:nvSpPr>
        <p:spPr>
          <a:xfrm>
            <a:off x="1313895" y="559293"/>
            <a:ext cx="7546020" cy="3941685"/>
          </a:xfrm>
        </p:spPr>
        <p:txBody>
          <a:bodyPr/>
          <a:lstStyle/>
          <a:p>
            <a:endParaRPr lang="en-IN"/>
          </a:p>
        </p:txBody>
      </p:sp>
      <p:pic>
        <p:nvPicPr>
          <p:cNvPr id="6" name="Picture 5">
            <a:extLst>
              <a:ext uri="{FF2B5EF4-FFF2-40B4-BE49-F238E27FC236}">
                <a16:creationId xmlns:a16="http://schemas.microsoft.com/office/drawing/2014/main" id="{0187C932-BAFE-43D6-A80F-0A3522493367}"/>
              </a:ext>
            </a:extLst>
          </p:cNvPr>
          <p:cNvPicPr>
            <a:picLocks noChangeAspect="1"/>
          </p:cNvPicPr>
          <p:nvPr/>
        </p:nvPicPr>
        <p:blipFill>
          <a:blip r:embed="rId2"/>
          <a:stretch>
            <a:fillRect/>
          </a:stretch>
        </p:blipFill>
        <p:spPr>
          <a:xfrm>
            <a:off x="1313895" y="559293"/>
            <a:ext cx="7546019" cy="3941684"/>
          </a:xfrm>
          <a:prstGeom prst="rect">
            <a:avLst/>
          </a:prstGeom>
        </p:spPr>
      </p:pic>
    </p:spTree>
    <p:extLst>
      <p:ext uri="{BB962C8B-B14F-4D97-AF65-F5344CB8AC3E}">
        <p14:creationId xmlns:p14="http://schemas.microsoft.com/office/powerpoint/2010/main" val="3525351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3">
          <a:extLst>
            <a:ext uri="{FF2B5EF4-FFF2-40B4-BE49-F238E27FC236}">
              <a16:creationId xmlns:a16="http://schemas.microsoft.com/office/drawing/2014/main" id="{6F776B04-61D6-7FC4-40F9-4B112964F3F1}"/>
            </a:ext>
          </a:extLst>
        </p:cNvPr>
        <p:cNvGrpSpPr/>
        <p:nvPr/>
      </p:nvGrpSpPr>
      <p:grpSpPr>
        <a:xfrm>
          <a:off x="0" y="0"/>
          <a:ext cx="0" cy="0"/>
          <a:chOff x="0" y="0"/>
          <a:chExt cx="0" cy="0"/>
        </a:xfrm>
      </p:grpSpPr>
      <p:sp>
        <p:nvSpPr>
          <p:cNvPr id="324" name="Google Shape;324;p38">
            <a:extLst>
              <a:ext uri="{FF2B5EF4-FFF2-40B4-BE49-F238E27FC236}">
                <a16:creationId xmlns:a16="http://schemas.microsoft.com/office/drawing/2014/main" id="{0B637200-91F8-2CE6-C679-A17DB389D0C7}"/>
              </a:ext>
            </a:extLst>
          </p:cNvPr>
          <p:cNvSpPr txBox="1">
            <a:spLocks noGrp="1"/>
          </p:cNvSpPr>
          <p:nvPr>
            <p:ph type="title"/>
          </p:nvPr>
        </p:nvSpPr>
        <p:spPr>
          <a:xfrm>
            <a:off x="1048215" y="426128"/>
            <a:ext cx="7478751" cy="674703"/>
          </a:xfrm>
          <a:prstGeom prst="rect">
            <a:avLst/>
          </a:prstGeom>
        </p:spPr>
        <p:txBody>
          <a:bodyPr spcFirstLastPara="1" wrap="square" lIns="91425" tIns="91425" rIns="91425" bIns="91425" anchor="t" anchorCtr="0">
            <a:noAutofit/>
          </a:bodyPr>
          <a:lstStyle/>
          <a:p>
            <a:pPr lvl="0"/>
            <a:r>
              <a:rPr lang="en-US" sz="2000" b="1" dirty="0">
                <a:latin typeface="Times New Roman" panose="02020603050405020304" pitchFamily="18" charset="0"/>
                <a:cs typeface="Times New Roman" panose="02020603050405020304" pitchFamily="18" charset="0"/>
              </a:rPr>
              <a:t>1. Who is the senior most employee based on job title?</a:t>
            </a:r>
            <a:endParaRPr sz="2000" b="1" dirty="0">
              <a:latin typeface="Times New Roman" panose="02020603050405020304" pitchFamily="18" charset="0"/>
              <a:cs typeface="Times New Roman" panose="02020603050405020304" pitchFamily="18" charset="0"/>
            </a:endParaRPr>
          </a:p>
        </p:txBody>
      </p:sp>
      <p:sp>
        <p:nvSpPr>
          <p:cNvPr id="325" name="Google Shape;325;p38">
            <a:extLst>
              <a:ext uri="{FF2B5EF4-FFF2-40B4-BE49-F238E27FC236}">
                <a16:creationId xmlns:a16="http://schemas.microsoft.com/office/drawing/2014/main" id="{17C75E52-59E8-EC09-4113-02940B8C74AA}"/>
              </a:ext>
            </a:extLst>
          </p:cNvPr>
          <p:cNvSpPr txBox="1">
            <a:spLocks noGrp="1"/>
          </p:cNvSpPr>
          <p:nvPr>
            <p:ph type="subTitle" idx="1"/>
          </p:nvPr>
        </p:nvSpPr>
        <p:spPr>
          <a:xfrm>
            <a:off x="1455599" y="1322773"/>
            <a:ext cx="7478751" cy="33024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		</a:t>
            </a:r>
            <a:endParaRPr dirty="0"/>
          </a:p>
        </p:txBody>
      </p:sp>
      <p:sp>
        <p:nvSpPr>
          <p:cNvPr id="7" name="TextBox 6">
            <a:extLst>
              <a:ext uri="{FF2B5EF4-FFF2-40B4-BE49-F238E27FC236}">
                <a16:creationId xmlns:a16="http://schemas.microsoft.com/office/drawing/2014/main" id="{8D025760-D134-E128-37E6-DC7F71FB4508}"/>
              </a:ext>
            </a:extLst>
          </p:cNvPr>
          <p:cNvSpPr txBox="1"/>
          <p:nvPr/>
        </p:nvSpPr>
        <p:spPr>
          <a:xfrm>
            <a:off x="4269989" y="1882629"/>
            <a:ext cx="4039340" cy="584775"/>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Madan mohan is the senior most, employee based on job title</a:t>
            </a:r>
            <a:endParaRPr lang="en-IN" sz="1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19EAD6D-661E-3B83-B2F1-5775CA1827D4}"/>
              </a:ext>
            </a:extLst>
          </p:cNvPr>
          <p:cNvPicPr>
            <a:picLocks noChangeAspect="1"/>
          </p:cNvPicPr>
          <p:nvPr/>
        </p:nvPicPr>
        <p:blipFill>
          <a:blip r:embed="rId3"/>
          <a:stretch>
            <a:fillRect/>
          </a:stretch>
        </p:blipFill>
        <p:spPr>
          <a:xfrm>
            <a:off x="1630788" y="1345588"/>
            <a:ext cx="2390796" cy="1864213"/>
          </a:xfrm>
          <a:prstGeom prst="rect">
            <a:avLst/>
          </a:prstGeom>
        </p:spPr>
      </p:pic>
      <p:pic>
        <p:nvPicPr>
          <p:cNvPr id="11" name="Picture 10">
            <a:extLst>
              <a:ext uri="{FF2B5EF4-FFF2-40B4-BE49-F238E27FC236}">
                <a16:creationId xmlns:a16="http://schemas.microsoft.com/office/drawing/2014/main" id="{A0C9C2FC-99A7-7425-D512-889537206923}"/>
              </a:ext>
            </a:extLst>
          </p:cNvPr>
          <p:cNvPicPr>
            <a:picLocks noChangeAspect="1"/>
          </p:cNvPicPr>
          <p:nvPr/>
        </p:nvPicPr>
        <p:blipFill>
          <a:blip r:embed="rId4"/>
          <a:stretch>
            <a:fillRect/>
          </a:stretch>
        </p:blipFill>
        <p:spPr>
          <a:xfrm>
            <a:off x="958787" y="3444536"/>
            <a:ext cx="7981027" cy="945996"/>
          </a:xfrm>
          <a:prstGeom prst="rect">
            <a:avLst/>
          </a:prstGeom>
        </p:spPr>
      </p:pic>
    </p:spTree>
    <p:extLst>
      <p:ext uri="{BB962C8B-B14F-4D97-AF65-F5344CB8AC3E}">
        <p14:creationId xmlns:p14="http://schemas.microsoft.com/office/powerpoint/2010/main" val="500433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455B0-1DDD-BFDF-901D-CB76D60D65E2}"/>
              </a:ext>
            </a:extLst>
          </p:cNvPr>
          <p:cNvSpPr>
            <a:spLocks noGrp="1"/>
          </p:cNvSpPr>
          <p:nvPr>
            <p:ph type="title"/>
          </p:nvPr>
        </p:nvSpPr>
        <p:spPr>
          <a:xfrm>
            <a:off x="994299" y="195310"/>
            <a:ext cx="7473194" cy="497732"/>
          </a:xfrm>
        </p:spPr>
        <p:txBody>
          <a:bodyPr/>
          <a:lstStyle/>
          <a:p>
            <a:r>
              <a:rPr lang="en-US" sz="2000" b="1" dirty="0">
                <a:latin typeface="Times New Roman" panose="02020603050405020304" pitchFamily="18" charset="0"/>
                <a:cs typeface="Times New Roman" panose="02020603050405020304" pitchFamily="18" charset="0"/>
              </a:rPr>
              <a:t>2. Which countries have the most Invoices?</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F54E4E2-F964-81CB-0852-5ABBED946186}"/>
              </a:ext>
            </a:extLst>
          </p:cNvPr>
          <p:cNvSpPr>
            <a:spLocks noGrp="1"/>
          </p:cNvSpPr>
          <p:nvPr>
            <p:ph type="subTitle" idx="1"/>
          </p:nvPr>
        </p:nvSpPr>
        <p:spPr>
          <a:xfrm>
            <a:off x="1056443" y="790113"/>
            <a:ext cx="7972147" cy="3790765"/>
          </a:xfrm>
        </p:spPr>
        <p:txBody>
          <a:bodyPr/>
          <a:lstStyle/>
          <a:p>
            <a:r>
              <a:rPr lang="en-IN" dirty="0"/>
              <a:t> </a:t>
            </a:r>
          </a:p>
          <a:p>
            <a:endParaRPr lang="en-IN" dirty="0"/>
          </a:p>
          <a:p>
            <a:endParaRPr lang="en-US" sz="2000" b="0" dirty="0"/>
          </a:p>
          <a:p>
            <a:endParaRPr lang="en-US" sz="2000" b="0" dirty="0"/>
          </a:p>
          <a:p>
            <a:pPr marL="114300" indent="0"/>
            <a:r>
              <a:rPr lang="en-US" sz="1600" dirty="0">
                <a:latin typeface="Times New Roman" panose="02020603050405020304" pitchFamily="18" charset="0"/>
                <a:cs typeface="Times New Roman" panose="02020603050405020304" pitchFamily="18" charset="0"/>
              </a:rPr>
              <a:t>- Usa , Canada , Brazil , France , Germany </a:t>
            </a:r>
            <a:r>
              <a:rPr lang="en-US" sz="1600" b="0" dirty="0">
                <a:latin typeface="Times New Roman" panose="02020603050405020304" pitchFamily="18" charset="0"/>
                <a:cs typeface="Times New Roman" panose="02020603050405020304" pitchFamily="18" charset="0"/>
              </a:rPr>
              <a:t>are the  countries</a:t>
            </a:r>
          </a:p>
          <a:p>
            <a:pPr marL="114300" indent="0"/>
            <a:r>
              <a:rPr lang="en-US" sz="1600" b="0" dirty="0">
                <a:latin typeface="Times New Roman" panose="02020603050405020304" pitchFamily="18" charset="0"/>
                <a:cs typeface="Times New Roman" panose="02020603050405020304" pitchFamily="18" charset="0"/>
              </a:rPr>
              <a:t> have the most Invoices</a:t>
            </a:r>
            <a:endParaRPr lang="en-IN" sz="1600" b="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EE99921-9960-7B6E-700A-C2C4A56F961C}"/>
              </a:ext>
            </a:extLst>
          </p:cNvPr>
          <p:cNvPicPr>
            <a:picLocks noChangeAspect="1"/>
          </p:cNvPicPr>
          <p:nvPr/>
        </p:nvPicPr>
        <p:blipFill>
          <a:blip r:embed="rId2"/>
          <a:stretch>
            <a:fillRect/>
          </a:stretch>
        </p:blipFill>
        <p:spPr>
          <a:xfrm>
            <a:off x="1392892" y="972396"/>
            <a:ext cx="5191850" cy="1733634"/>
          </a:xfrm>
          <a:prstGeom prst="rect">
            <a:avLst/>
          </a:prstGeom>
        </p:spPr>
      </p:pic>
      <p:pic>
        <p:nvPicPr>
          <p:cNvPr id="10" name="Picture 9">
            <a:extLst>
              <a:ext uri="{FF2B5EF4-FFF2-40B4-BE49-F238E27FC236}">
                <a16:creationId xmlns:a16="http://schemas.microsoft.com/office/drawing/2014/main" id="{9D17DC81-3706-6F85-6CA6-54B32A56F8E4}"/>
              </a:ext>
            </a:extLst>
          </p:cNvPr>
          <p:cNvPicPr>
            <a:picLocks noChangeAspect="1"/>
          </p:cNvPicPr>
          <p:nvPr/>
        </p:nvPicPr>
        <p:blipFill>
          <a:blip r:embed="rId3"/>
          <a:stretch>
            <a:fillRect/>
          </a:stretch>
        </p:blipFill>
        <p:spPr>
          <a:xfrm>
            <a:off x="6430536" y="2890746"/>
            <a:ext cx="2598053" cy="1446243"/>
          </a:xfrm>
          <a:prstGeom prst="rect">
            <a:avLst/>
          </a:prstGeom>
        </p:spPr>
      </p:pic>
    </p:spTree>
    <p:extLst>
      <p:ext uri="{BB962C8B-B14F-4D97-AF65-F5344CB8AC3E}">
        <p14:creationId xmlns:p14="http://schemas.microsoft.com/office/powerpoint/2010/main" val="292972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0452A-CEE9-0536-F23F-E5201F113D9E}"/>
              </a:ext>
            </a:extLst>
          </p:cNvPr>
          <p:cNvSpPr>
            <a:spLocks noGrp="1"/>
          </p:cNvSpPr>
          <p:nvPr>
            <p:ph type="title"/>
          </p:nvPr>
        </p:nvSpPr>
        <p:spPr>
          <a:xfrm>
            <a:off x="989969" y="196731"/>
            <a:ext cx="5379867" cy="585926"/>
          </a:xfrm>
        </p:spPr>
        <p:txBody>
          <a:bodyPr/>
          <a:lstStyle/>
          <a:p>
            <a:r>
              <a:rPr lang="en-US" sz="2000" b="1" dirty="0">
                <a:latin typeface="Times New Roman" panose="02020603050405020304" pitchFamily="18" charset="0"/>
                <a:cs typeface="Times New Roman" panose="02020603050405020304" pitchFamily="18" charset="0"/>
              </a:rPr>
              <a:t>3. What are the top 3 values of total invoice?</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D5D9BA9-F020-CD4C-7D10-12E7836883C6}"/>
              </a:ext>
            </a:extLst>
          </p:cNvPr>
          <p:cNvSpPr>
            <a:spLocks noGrp="1"/>
          </p:cNvSpPr>
          <p:nvPr>
            <p:ph type="subTitle" idx="1"/>
          </p:nvPr>
        </p:nvSpPr>
        <p:spPr>
          <a:xfrm>
            <a:off x="1162975" y="932156"/>
            <a:ext cx="7466458" cy="3630966"/>
          </a:xfrm>
        </p:spPr>
        <p:txBody>
          <a:bodyPr/>
          <a:lstStyle/>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pPr marL="114300" indent="0"/>
            <a:r>
              <a:rPr lang="en-US" sz="1600" dirty="0">
                <a:latin typeface="Times New Roman" panose="02020603050405020304" pitchFamily="18" charset="0"/>
                <a:cs typeface="Times New Roman" panose="02020603050405020304" pitchFamily="18" charset="0"/>
              </a:rPr>
              <a:t>- </a:t>
            </a:r>
            <a:r>
              <a:rPr lang="en-US" sz="1600" b="0" dirty="0">
                <a:latin typeface="Times New Roman" panose="02020603050405020304" pitchFamily="18" charset="0"/>
                <a:cs typeface="Times New Roman" panose="02020603050405020304" pitchFamily="18" charset="0"/>
              </a:rPr>
              <a:t>The top three values of the invoice totals are </a:t>
            </a:r>
            <a:r>
              <a:rPr lang="en-US" sz="1600" dirty="0">
                <a:latin typeface="Times New Roman" panose="02020603050405020304" pitchFamily="18" charset="0"/>
                <a:cs typeface="Times New Roman" panose="02020603050405020304" pitchFamily="18" charset="0"/>
              </a:rPr>
              <a:t>$23.76, $19.80, </a:t>
            </a:r>
            <a:r>
              <a:rPr lang="en-US" sz="1600" b="0" dirty="0">
                <a:latin typeface="Times New Roman" panose="02020603050405020304" pitchFamily="18" charset="0"/>
                <a:cs typeface="Times New Roman" panose="02020603050405020304" pitchFamily="18" charset="0"/>
              </a:rPr>
              <a:t>and </a:t>
            </a:r>
            <a:r>
              <a:rPr lang="en-US" sz="1600" dirty="0">
                <a:latin typeface="Times New Roman" panose="02020603050405020304" pitchFamily="18" charset="0"/>
                <a:cs typeface="Times New Roman" panose="02020603050405020304" pitchFamily="18" charset="0"/>
              </a:rPr>
              <a:t>$19.80.</a:t>
            </a: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EE08C14-3811-6997-B958-0606604AA01B}"/>
              </a:ext>
            </a:extLst>
          </p:cNvPr>
          <p:cNvPicPr>
            <a:picLocks noChangeAspect="1"/>
          </p:cNvPicPr>
          <p:nvPr/>
        </p:nvPicPr>
        <p:blipFill>
          <a:blip r:embed="rId2"/>
          <a:stretch>
            <a:fillRect/>
          </a:stretch>
        </p:blipFill>
        <p:spPr>
          <a:xfrm>
            <a:off x="1368122" y="1075620"/>
            <a:ext cx="3670125" cy="1891431"/>
          </a:xfrm>
          <a:prstGeom prst="rect">
            <a:avLst/>
          </a:prstGeom>
        </p:spPr>
      </p:pic>
      <p:pic>
        <p:nvPicPr>
          <p:cNvPr id="6" name="Picture 5">
            <a:extLst>
              <a:ext uri="{FF2B5EF4-FFF2-40B4-BE49-F238E27FC236}">
                <a16:creationId xmlns:a16="http://schemas.microsoft.com/office/drawing/2014/main" id="{AEEA952D-90D3-D89D-5F0C-1B86EB277F80}"/>
              </a:ext>
            </a:extLst>
          </p:cNvPr>
          <p:cNvPicPr>
            <a:picLocks noChangeAspect="1"/>
          </p:cNvPicPr>
          <p:nvPr/>
        </p:nvPicPr>
        <p:blipFill>
          <a:blip r:embed="rId3"/>
          <a:stretch>
            <a:fillRect/>
          </a:stretch>
        </p:blipFill>
        <p:spPr>
          <a:xfrm>
            <a:off x="5752731" y="1518082"/>
            <a:ext cx="1447060" cy="1229557"/>
          </a:xfrm>
          <a:prstGeom prst="rect">
            <a:avLst/>
          </a:prstGeom>
        </p:spPr>
      </p:pic>
    </p:spTree>
    <p:extLst>
      <p:ext uri="{BB962C8B-B14F-4D97-AF65-F5344CB8AC3E}">
        <p14:creationId xmlns:p14="http://schemas.microsoft.com/office/powerpoint/2010/main" val="3904221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1A97-0FA2-0E8D-9E1F-C1114A386124}"/>
              </a:ext>
            </a:extLst>
          </p:cNvPr>
          <p:cNvSpPr>
            <a:spLocks noGrp="1"/>
          </p:cNvSpPr>
          <p:nvPr>
            <p:ph type="title"/>
          </p:nvPr>
        </p:nvSpPr>
        <p:spPr>
          <a:xfrm>
            <a:off x="1216240" y="159799"/>
            <a:ext cx="7625917" cy="1029809"/>
          </a:xfrm>
        </p:spPr>
        <p:txBody>
          <a:bodyPr/>
          <a:lstStyle/>
          <a:p>
            <a:r>
              <a:rPr lang="en-US" sz="2000" b="1" dirty="0">
                <a:latin typeface="Times New Roman" panose="02020603050405020304" pitchFamily="18" charset="0"/>
                <a:cs typeface="Times New Roman" panose="02020603050405020304" pitchFamily="18" charset="0"/>
              </a:rPr>
              <a:t>4. Which city has the best customers? - We would like to throw a promotional Music Festival in the city we made the most money.  Write a query that returns one city that has the highest sum of invoice totals.  Return both the city name &amp; sum of all invoice totals</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1EAE27F-465B-EB4A-A940-6489A2C94E50}"/>
              </a:ext>
            </a:extLst>
          </p:cNvPr>
          <p:cNvSpPr>
            <a:spLocks noGrp="1"/>
          </p:cNvSpPr>
          <p:nvPr>
            <p:ph type="subTitle" idx="1"/>
          </p:nvPr>
        </p:nvSpPr>
        <p:spPr>
          <a:xfrm>
            <a:off x="1040780" y="1331649"/>
            <a:ext cx="7925667" cy="3582322"/>
          </a:xfrm>
        </p:spPr>
        <p:txBody>
          <a:bodyPr/>
          <a:lstStyle/>
          <a:p>
            <a:endParaRPr lang="en-IN" dirty="0"/>
          </a:p>
          <a:p>
            <a:endParaRPr lang="en-IN" dirty="0"/>
          </a:p>
          <a:p>
            <a:endParaRPr lang="en-IN" dirty="0"/>
          </a:p>
          <a:p>
            <a:endParaRPr lang="en-IN" dirty="0"/>
          </a:p>
          <a:p>
            <a:r>
              <a:rPr lang="en-IN" sz="1600" dirty="0">
                <a:latin typeface="Times New Roman" panose="02020603050405020304" pitchFamily="18" charset="0"/>
                <a:cs typeface="Times New Roman" panose="02020603050405020304" pitchFamily="18" charset="0"/>
              </a:rPr>
              <a:t>- Prague has the best customer.</a:t>
            </a:r>
          </a:p>
        </p:txBody>
      </p:sp>
      <p:pic>
        <p:nvPicPr>
          <p:cNvPr id="5" name="Picture 4">
            <a:extLst>
              <a:ext uri="{FF2B5EF4-FFF2-40B4-BE49-F238E27FC236}">
                <a16:creationId xmlns:a16="http://schemas.microsoft.com/office/drawing/2014/main" id="{2AE0608B-3A78-BB99-5982-703FC2366894}"/>
              </a:ext>
            </a:extLst>
          </p:cNvPr>
          <p:cNvPicPr>
            <a:picLocks noChangeAspect="1"/>
          </p:cNvPicPr>
          <p:nvPr/>
        </p:nvPicPr>
        <p:blipFill>
          <a:blip r:embed="rId2"/>
          <a:stretch>
            <a:fillRect/>
          </a:stretch>
        </p:blipFill>
        <p:spPr>
          <a:xfrm>
            <a:off x="1216240" y="1870413"/>
            <a:ext cx="2743583" cy="1752845"/>
          </a:xfrm>
          <a:prstGeom prst="rect">
            <a:avLst/>
          </a:prstGeom>
        </p:spPr>
      </p:pic>
      <p:pic>
        <p:nvPicPr>
          <p:cNvPr id="7" name="Picture 6">
            <a:extLst>
              <a:ext uri="{FF2B5EF4-FFF2-40B4-BE49-F238E27FC236}">
                <a16:creationId xmlns:a16="http://schemas.microsoft.com/office/drawing/2014/main" id="{C015F228-38B7-592A-4F94-466CDD0681BF}"/>
              </a:ext>
            </a:extLst>
          </p:cNvPr>
          <p:cNvPicPr>
            <a:picLocks noChangeAspect="1"/>
          </p:cNvPicPr>
          <p:nvPr/>
        </p:nvPicPr>
        <p:blipFill>
          <a:blip r:embed="rId3"/>
          <a:stretch>
            <a:fillRect/>
          </a:stretch>
        </p:blipFill>
        <p:spPr>
          <a:xfrm>
            <a:off x="4853263" y="2129194"/>
            <a:ext cx="1924319" cy="701336"/>
          </a:xfrm>
          <a:prstGeom prst="rect">
            <a:avLst/>
          </a:prstGeom>
        </p:spPr>
      </p:pic>
    </p:spTree>
    <p:extLst>
      <p:ext uri="{BB962C8B-B14F-4D97-AF65-F5344CB8AC3E}">
        <p14:creationId xmlns:p14="http://schemas.microsoft.com/office/powerpoint/2010/main" val="3270423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13A36-3BE4-0F1F-44B4-ED47461AAA7F}"/>
              </a:ext>
            </a:extLst>
          </p:cNvPr>
          <p:cNvSpPr>
            <a:spLocks noGrp="1"/>
          </p:cNvSpPr>
          <p:nvPr>
            <p:ph type="title"/>
          </p:nvPr>
        </p:nvSpPr>
        <p:spPr>
          <a:xfrm>
            <a:off x="1145219" y="0"/>
            <a:ext cx="7741329" cy="958788"/>
          </a:xfrm>
        </p:spPr>
        <p:txBody>
          <a:bodyPr/>
          <a:lstStyle/>
          <a:p>
            <a:r>
              <a:rPr lang="en-US" sz="2000" b="1" dirty="0">
                <a:latin typeface="Times New Roman" panose="02020603050405020304" pitchFamily="18" charset="0"/>
                <a:cs typeface="Times New Roman" panose="02020603050405020304" pitchFamily="18" charset="0"/>
              </a:rPr>
              <a:t>5. The customer who has spent the most money will be declared the best customer. Write a query that returns the person who has spent the most money.</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C1B6D78-7611-DA42-C4C3-108EB2B4BC80}"/>
              </a:ext>
            </a:extLst>
          </p:cNvPr>
          <p:cNvSpPr>
            <a:spLocks noGrp="1"/>
          </p:cNvSpPr>
          <p:nvPr>
            <p:ph type="subTitle" idx="1"/>
          </p:nvPr>
        </p:nvSpPr>
        <p:spPr>
          <a:xfrm>
            <a:off x="1145218" y="958788"/>
            <a:ext cx="7741329" cy="3551068"/>
          </a:xfrm>
        </p:spPr>
        <p:txBody>
          <a:bodyPr/>
          <a:lstStyle/>
          <a:p>
            <a:endParaRPr lang="en-IN" sz="1800" dirty="0"/>
          </a:p>
          <a:p>
            <a:endParaRPr lang="en-IN" sz="1800" dirty="0"/>
          </a:p>
          <a:p>
            <a:endParaRPr lang="en-IN" sz="1800" dirty="0"/>
          </a:p>
          <a:p>
            <a:endParaRPr lang="en-IN" sz="1800" dirty="0"/>
          </a:p>
          <a:p>
            <a:endParaRPr lang="en-IN" sz="1800" dirty="0"/>
          </a:p>
          <a:p>
            <a:endParaRPr lang="en-IN" sz="1800" dirty="0"/>
          </a:p>
          <a:p>
            <a:endParaRPr lang="en-IN" sz="1800" dirty="0"/>
          </a:p>
          <a:p>
            <a:endParaRPr lang="en-US" sz="1800" dirty="0"/>
          </a:p>
          <a:p>
            <a:endParaRPr lang="en-US" sz="1800" dirty="0"/>
          </a:p>
          <a:p>
            <a:endParaRPr lang="en-US" sz="1600" dirty="0">
              <a:latin typeface="Times New Roman" panose="02020603050405020304" pitchFamily="18" charset="0"/>
              <a:cs typeface="Times New Roman" panose="02020603050405020304" pitchFamily="18" charset="0"/>
            </a:endParaRPr>
          </a:p>
          <a:p>
            <a:r>
              <a:rPr lang="en-US" sz="1600" b="0" dirty="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best customer</a:t>
            </a:r>
            <a:r>
              <a:rPr lang="en-US" sz="1600" b="0" dirty="0">
                <a:latin typeface="Times New Roman" panose="02020603050405020304" pitchFamily="18" charset="0"/>
                <a:cs typeface="Times New Roman" panose="02020603050405020304" pitchFamily="18" charset="0"/>
              </a:rPr>
              <a:t>, based on total spending, is </a:t>
            </a:r>
            <a:r>
              <a:rPr lang="en-US" sz="1600" dirty="0">
                <a:latin typeface="Times New Roman" panose="02020603050405020304" pitchFamily="18" charset="0"/>
                <a:cs typeface="Times New Roman" panose="02020603050405020304" pitchFamily="18" charset="0"/>
              </a:rPr>
              <a:t>František </a:t>
            </a:r>
            <a:r>
              <a:rPr lang="en-US" sz="1600" dirty="0" err="1">
                <a:latin typeface="Times New Roman" panose="02020603050405020304" pitchFamily="18" charset="0"/>
                <a:cs typeface="Times New Roman" panose="02020603050405020304" pitchFamily="18" charset="0"/>
              </a:rPr>
              <a:t>WichterlovAi</a:t>
            </a:r>
            <a:r>
              <a:rPr lang="en-US" sz="1600" dirty="0">
                <a:latin typeface="Times New Roman" panose="02020603050405020304" pitchFamily="18" charset="0"/>
                <a:cs typeface="Times New Roman" panose="02020603050405020304" pitchFamily="18" charset="0"/>
              </a:rPr>
              <a:t> </a:t>
            </a:r>
            <a:r>
              <a:rPr lang="en-US" sz="1600" b="0" dirty="0">
                <a:latin typeface="Times New Roman" panose="02020603050405020304" pitchFamily="18" charset="0"/>
                <a:cs typeface="Times New Roman" panose="02020603050405020304" pitchFamily="18" charset="0"/>
              </a:rPr>
              <a:t>, who has spent a </a:t>
            </a:r>
            <a:r>
              <a:rPr lang="en-US" sz="1600" dirty="0">
                <a:latin typeface="Times New Roman" panose="02020603050405020304" pitchFamily="18" charset="0"/>
                <a:cs typeface="Times New Roman" panose="02020603050405020304" pitchFamily="18" charset="0"/>
              </a:rPr>
              <a:t>total of $144.54.</a:t>
            </a: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5705AB7-C9AF-8B06-EA9C-0F4B9EFA6038}"/>
              </a:ext>
            </a:extLst>
          </p:cNvPr>
          <p:cNvPicPr>
            <a:picLocks noChangeAspect="1"/>
          </p:cNvPicPr>
          <p:nvPr/>
        </p:nvPicPr>
        <p:blipFill>
          <a:blip r:embed="rId2"/>
          <a:stretch>
            <a:fillRect/>
          </a:stretch>
        </p:blipFill>
        <p:spPr>
          <a:xfrm>
            <a:off x="1544713" y="1193144"/>
            <a:ext cx="4927107" cy="2372056"/>
          </a:xfrm>
          <a:prstGeom prst="rect">
            <a:avLst/>
          </a:prstGeom>
        </p:spPr>
      </p:pic>
      <p:pic>
        <p:nvPicPr>
          <p:cNvPr id="6" name="Picture 5">
            <a:extLst>
              <a:ext uri="{FF2B5EF4-FFF2-40B4-BE49-F238E27FC236}">
                <a16:creationId xmlns:a16="http://schemas.microsoft.com/office/drawing/2014/main" id="{890170E0-39CA-8077-C6CF-8AA79B084C21}"/>
              </a:ext>
            </a:extLst>
          </p:cNvPr>
          <p:cNvPicPr>
            <a:picLocks noChangeAspect="1"/>
          </p:cNvPicPr>
          <p:nvPr/>
        </p:nvPicPr>
        <p:blipFill>
          <a:blip r:embed="rId3"/>
          <a:stretch>
            <a:fillRect/>
          </a:stretch>
        </p:blipFill>
        <p:spPr>
          <a:xfrm>
            <a:off x="6676007" y="2281197"/>
            <a:ext cx="2210540" cy="581106"/>
          </a:xfrm>
          <a:prstGeom prst="rect">
            <a:avLst/>
          </a:prstGeom>
        </p:spPr>
      </p:pic>
    </p:spTree>
    <p:extLst>
      <p:ext uri="{BB962C8B-B14F-4D97-AF65-F5344CB8AC3E}">
        <p14:creationId xmlns:p14="http://schemas.microsoft.com/office/powerpoint/2010/main" val="1836980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36BF2-47C1-DFB3-8201-77DD5D232E98}"/>
              </a:ext>
            </a:extLst>
          </p:cNvPr>
          <p:cNvSpPr>
            <a:spLocks noGrp="1"/>
          </p:cNvSpPr>
          <p:nvPr>
            <p:ph type="title"/>
          </p:nvPr>
        </p:nvSpPr>
        <p:spPr>
          <a:xfrm>
            <a:off x="1018479" y="248576"/>
            <a:ext cx="7823680" cy="829376"/>
          </a:xfrm>
        </p:spPr>
        <p:txBody>
          <a:bodyPr/>
          <a:lstStyle/>
          <a:p>
            <a:r>
              <a:rPr lang="en-US" sz="2000" b="1" dirty="0">
                <a:latin typeface="Times New Roman" panose="02020603050405020304" pitchFamily="18" charset="0"/>
                <a:cs typeface="Times New Roman" panose="02020603050405020304" pitchFamily="18" charset="0"/>
              </a:rPr>
              <a:t>6. Write a query to return the email, first name, last name, &amp; Genre of all Rock Music listeners. -- Return your list ordered alphabetically by email starting with A</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BFAF0BD-09DA-D96A-34F7-6253BAE64B32}"/>
              </a:ext>
            </a:extLst>
          </p:cNvPr>
          <p:cNvSpPr>
            <a:spLocks noGrp="1"/>
          </p:cNvSpPr>
          <p:nvPr>
            <p:ph type="subTitle" idx="1"/>
          </p:nvPr>
        </p:nvSpPr>
        <p:spPr>
          <a:xfrm>
            <a:off x="1122557" y="1225117"/>
            <a:ext cx="7719602" cy="3748327"/>
          </a:xfrm>
        </p:spPr>
        <p:txBody>
          <a:bodyPr/>
          <a:lstStyle/>
          <a:p>
            <a:endParaRPr lang="en-IN" dirty="0"/>
          </a:p>
          <a:p>
            <a:endParaRPr lang="en-IN" dirty="0"/>
          </a:p>
          <a:p>
            <a:endParaRPr lang="en-IN" dirty="0"/>
          </a:p>
          <a:p>
            <a:endParaRPr lang="en-IN" dirty="0"/>
          </a:p>
          <a:p>
            <a:pPr marL="114300" indent="0"/>
            <a:endParaRPr lang="en-IN" dirty="0"/>
          </a:p>
          <a:p>
            <a:pPr marL="114300" indent="0"/>
            <a:endParaRPr lang="en-IN" sz="1800" dirty="0"/>
          </a:p>
          <a:p>
            <a:pPr marL="114300" indent="0"/>
            <a:r>
              <a:rPr lang="en-IN" sz="1800" dirty="0"/>
              <a:t>- </a:t>
            </a:r>
            <a:r>
              <a:rPr lang="en-US" sz="1600" dirty="0">
                <a:latin typeface="Times New Roman" panose="02020603050405020304" pitchFamily="18" charset="0"/>
                <a:cs typeface="Times New Roman" panose="02020603050405020304" pitchFamily="18" charset="0"/>
              </a:rPr>
              <a:t>Aaron Mitchell, Alexandre Rocha, </a:t>
            </a:r>
            <a:r>
              <a:rPr lang="en-US" sz="1600" b="0" dirty="0">
                <a:latin typeface="Times New Roman" panose="02020603050405020304" pitchFamily="18" charset="0"/>
                <a:cs typeface="Times New Roman" panose="02020603050405020304" pitchFamily="18" charset="0"/>
              </a:rPr>
              <a:t>and </a:t>
            </a:r>
            <a:r>
              <a:rPr lang="en-US" sz="1600" dirty="0">
                <a:latin typeface="Times New Roman" panose="02020603050405020304" pitchFamily="18" charset="0"/>
                <a:cs typeface="Times New Roman" panose="02020603050405020304" pitchFamily="18" charset="0"/>
              </a:rPr>
              <a:t>Astrid Gruber</a:t>
            </a:r>
            <a:r>
              <a:rPr lang="en-US" sz="1600" b="0" dirty="0">
                <a:latin typeface="Times New Roman" panose="02020603050405020304" pitchFamily="18" charset="0"/>
                <a:cs typeface="Times New Roman" panose="02020603050405020304" pitchFamily="18" charset="0"/>
              </a:rPr>
              <a:t> are rock music listeners whose emails start with </a:t>
            </a:r>
            <a:r>
              <a:rPr lang="en-US" sz="1600" dirty="0">
                <a:latin typeface="Times New Roman" panose="02020603050405020304" pitchFamily="18" charset="0"/>
                <a:cs typeface="Times New Roman" panose="02020603050405020304" pitchFamily="18" charset="0"/>
              </a:rPr>
              <a:t>'A'.</a:t>
            </a: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6DF2EDB-1EF0-728C-8BB7-C4405680C488}"/>
              </a:ext>
            </a:extLst>
          </p:cNvPr>
          <p:cNvPicPr>
            <a:picLocks noChangeAspect="1"/>
          </p:cNvPicPr>
          <p:nvPr/>
        </p:nvPicPr>
        <p:blipFill>
          <a:blip r:embed="rId2"/>
          <a:stretch>
            <a:fillRect/>
          </a:stretch>
        </p:blipFill>
        <p:spPr>
          <a:xfrm>
            <a:off x="1222423" y="1475001"/>
            <a:ext cx="4705649" cy="2394355"/>
          </a:xfrm>
          <a:prstGeom prst="rect">
            <a:avLst/>
          </a:prstGeom>
        </p:spPr>
      </p:pic>
      <p:pic>
        <p:nvPicPr>
          <p:cNvPr id="6" name="Picture 5">
            <a:extLst>
              <a:ext uri="{FF2B5EF4-FFF2-40B4-BE49-F238E27FC236}">
                <a16:creationId xmlns:a16="http://schemas.microsoft.com/office/drawing/2014/main" id="{14A5B107-D890-8799-F816-4F5D30FBB625}"/>
              </a:ext>
            </a:extLst>
          </p:cNvPr>
          <p:cNvPicPr>
            <a:picLocks noChangeAspect="1"/>
          </p:cNvPicPr>
          <p:nvPr/>
        </p:nvPicPr>
        <p:blipFill>
          <a:blip r:embed="rId3"/>
          <a:stretch>
            <a:fillRect/>
          </a:stretch>
        </p:blipFill>
        <p:spPr>
          <a:xfrm>
            <a:off x="6027938" y="1810900"/>
            <a:ext cx="2814220" cy="1136342"/>
          </a:xfrm>
          <a:prstGeom prst="rect">
            <a:avLst/>
          </a:prstGeom>
        </p:spPr>
      </p:pic>
    </p:spTree>
    <p:extLst>
      <p:ext uri="{BB962C8B-B14F-4D97-AF65-F5344CB8AC3E}">
        <p14:creationId xmlns:p14="http://schemas.microsoft.com/office/powerpoint/2010/main" val="212597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3C98E-467E-ED95-3CB8-F2B411BBB268}"/>
              </a:ext>
            </a:extLst>
          </p:cNvPr>
          <p:cNvSpPr>
            <a:spLocks noGrp="1"/>
          </p:cNvSpPr>
          <p:nvPr>
            <p:ph type="title"/>
          </p:nvPr>
        </p:nvSpPr>
        <p:spPr>
          <a:xfrm>
            <a:off x="1038687" y="142043"/>
            <a:ext cx="7794595" cy="807868"/>
          </a:xfrm>
        </p:spPr>
        <p:txBody>
          <a:bodyPr/>
          <a:lstStyle/>
          <a:p>
            <a:r>
              <a:rPr lang="en-US" sz="2000" b="1" dirty="0">
                <a:latin typeface="Times New Roman" panose="02020603050405020304" pitchFamily="18" charset="0"/>
                <a:cs typeface="Times New Roman" panose="02020603050405020304" pitchFamily="18" charset="0"/>
              </a:rPr>
              <a:t>7. Let's invite the artists who have written the most rock music in our dataset.-- Write a query that returns the Artist name and total track count of the top 10 rock bands</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0C5B390-F638-945D-DC09-27FAA6A466DB}"/>
              </a:ext>
            </a:extLst>
          </p:cNvPr>
          <p:cNvSpPr>
            <a:spLocks noGrp="1"/>
          </p:cNvSpPr>
          <p:nvPr>
            <p:ph type="subTitle" idx="1"/>
          </p:nvPr>
        </p:nvSpPr>
        <p:spPr>
          <a:xfrm>
            <a:off x="1118586" y="843379"/>
            <a:ext cx="7714696" cy="3604334"/>
          </a:xfrm>
        </p:spPr>
        <p:txBody>
          <a:bodyPr/>
          <a:lstStyle/>
          <a:p>
            <a:endParaRPr lang="en-IN"/>
          </a:p>
          <a:p>
            <a:endParaRPr lang="en-IN"/>
          </a:p>
          <a:p>
            <a:endParaRPr lang="en-IN"/>
          </a:p>
          <a:p>
            <a:endParaRPr lang="en-IN"/>
          </a:p>
          <a:p>
            <a:endParaRPr lang="en-IN"/>
          </a:p>
          <a:p>
            <a:endParaRPr lang="en-IN"/>
          </a:p>
        </p:txBody>
      </p:sp>
      <p:pic>
        <p:nvPicPr>
          <p:cNvPr id="4" name="Picture 3">
            <a:extLst>
              <a:ext uri="{FF2B5EF4-FFF2-40B4-BE49-F238E27FC236}">
                <a16:creationId xmlns:a16="http://schemas.microsoft.com/office/drawing/2014/main" id="{CF3238F3-FB3F-BEBB-E909-EE33277FB57A}"/>
              </a:ext>
            </a:extLst>
          </p:cNvPr>
          <p:cNvPicPr>
            <a:picLocks noChangeAspect="1"/>
          </p:cNvPicPr>
          <p:nvPr/>
        </p:nvPicPr>
        <p:blipFill>
          <a:blip r:embed="rId2"/>
          <a:stretch>
            <a:fillRect/>
          </a:stretch>
        </p:blipFill>
        <p:spPr>
          <a:xfrm>
            <a:off x="1118586" y="1296140"/>
            <a:ext cx="4536490" cy="2805343"/>
          </a:xfrm>
          <a:prstGeom prst="rect">
            <a:avLst/>
          </a:prstGeom>
        </p:spPr>
      </p:pic>
      <p:pic>
        <p:nvPicPr>
          <p:cNvPr id="6" name="Picture 5">
            <a:extLst>
              <a:ext uri="{FF2B5EF4-FFF2-40B4-BE49-F238E27FC236}">
                <a16:creationId xmlns:a16="http://schemas.microsoft.com/office/drawing/2014/main" id="{C1AA20CE-ACC9-AAAF-9825-9FF4942EA067}"/>
              </a:ext>
            </a:extLst>
          </p:cNvPr>
          <p:cNvPicPr>
            <a:picLocks noChangeAspect="1"/>
          </p:cNvPicPr>
          <p:nvPr/>
        </p:nvPicPr>
        <p:blipFill>
          <a:blip r:embed="rId3"/>
          <a:stretch>
            <a:fillRect/>
          </a:stretch>
        </p:blipFill>
        <p:spPr>
          <a:xfrm>
            <a:off x="5833856" y="1773654"/>
            <a:ext cx="2947387" cy="2068497"/>
          </a:xfrm>
          <a:prstGeom prst="rect">
            <a:avLst/>
          </a:prstGeom>
        </p:spPr>
      </p:pic>
    </p:spTree>
    <p:extLst>
      <p:ext uri="{BB962C8B-B14F-4D97-AF65-F5344CB8AC3E}">
        <p14:creationId xmlns:p14="http://schemas.microsoft.com/office/powerpoint/2010/main" val="3307927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4381-84B5-47E3-0B15-AC91BE9C5E5B}"/>
              </a:ext>
            </a:extLst>
          </p:cNvPr>
          <p:cNvSpPr>
            <a:spLocks noGrp="1"/>
          </p:cNvSpPr>
          <p:nvPr>
            <p:ph type="title"/>
          </p:nvPr>
        </p:nvSpPr>
        <p:spPr>
          <a:xfrm>
            <a:off x="1127464" y="284085"/>
            <a:ext cx="7448366" cy="727969"/>
          </a:xfrm>
        </p:spPr>
        <p:txBody>
          <a:bodyPr/>
          <a:lstStyle/>
          <a:p>
            <a:r>
              <a:rPr lang="en-US" sz="2000" b="1" dirty="0">
                <a:latin typeface="Times New Roman" panose="02020603050405020304" pitchFamily="18" charset="0"/>
                <a:cs typeface="Times New Roman" panose="02020603050405020304" pitchFamily="18" charset="0"/>
              </a:rPr>
              <a:t>8. Return all the track names that have a song length longer than the average song length.-- Return the Name and Milliseconds for each track. Order by the song length, with the longest songs listed first</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E5F1B9B-C3C1-A0D2-8577-016725F948E6}"/>
              </a:ext>
            </a:extLst>
          </p:cNvPr>
          <p:cNvSpPr>
            <a:spLocks noGrp="1"/>
          </p:cNvSpPr>
          <p:nvPr>
            <p:ph type="subTitle" idx="1"/>
          </p:nvPr>
        </p:nvSpPr>
        <p:spPr>
          <a:xfrm>
            <a:off x="1260628" y="1171852"/>
            <a:ext cx="7448366" cy="3258105"/>
          </a:xfrm>
        </p:spPr>
        <p:txBody>
          <a:bodyPr/>
          <a:lstStyle/>
          <a:p>
            <a:endParaRPr lang="en-IN"/>
          </a:p>
          <a:p>
            <a:endParaRPr lang="en-IN"/>
          </a:p>
          <a:p>
            <a:endParaRPr lang="en-IN"/>
          </a:p>
          <a:p>
            <a:endParaRPr lang="en-IN"/>
          </a:p>
          <a:p>
            <a:endParaRPr lang="en-IN"/>
          </a:p>
          <a:p>
            <a:endParaRPr lang="en-IN"/>
          </a:p>
        </p:txBody>
      </p:sp>
      <p:pic>
        <p:nvPicPr>
          <p:cNvPr id="4" name="Picture 3">
            <a:extLst>
              <a:ext uri="{FF2B5EF4-FFF2-40B4-BE49-F238E27FC236}">
                <a16:creationId xmlns:a16="http://schemas.microsoft.com/office/drawing/2014/main" id="{6578DF7B-5F90-FC70-7E50-D03AA4F73D50}"/>
              </a:ext>
            </a:extLst>
          </p:cNvPr>
          <p:cNvPicPr>
            <a:picLocks noChangeAspect="1"/>
          </p:cNvPicPr>
          <p:nvPr/>
        </p:nvPicPr>
        <p:blipFill>
          <a:blip r:embed="rId2"/>
          <a:stretch>
            <a:fillRect/>
          </a:stretch>
        </p:blipFill>
        <p:spPr>
          <a:xfrm>
            <a:off x="1229557" y="1847060"/>
            <a:ext cx="3622090" cy="2471169"/>
          </a:xfrm>
          <a:prstGeom prst="rect">
            <a:avLst/>
          </a:prstGeom>
        </p:spPr>
      </p:pic>
      <p:pic>
        <p:nvPicPr>
          <p:cNvPr id="6" name="Picture 5">
            <a:extLst>
              <a:ext uri="{FF2B5EF4-FFF2-40B4-BE49-F238E27FC236}">
                <a16:creationId xmlns:a16="http://schemas.microsoft.com/office/drawing/2014/main" id="{08358E32-0432-6BD0-523C-99E40653154B}"/>
              </a:ext>
            </a:extLst>
          </p:cNvPr>
          <p:cNvPicPr>
            <a:picLocks noChangeAspect="1"/>
          </p:cNvPicPr>
          <p:nvPr/>
        </p:nvPicPr>
        <p:blipFill>
          <a:blip r:embed="rId3"/>
          <a:stretch>
            <a:fillRect/>
          </a:stretch>
        </p:blipFill>
        <p:spPr>
          <a:xfrm>
            <a:off x="5799319" y="1955699"/>
            <a:ext cx="2581635" cy="2362530"/>
          </a:xfrm>
          <a:prstGeom prst="rect">
            <a:avLst/>
          </a:prstGeom>
        </p:spPr>
      </p:pic>
    </p:spTree>
    <p:extLst>
      <p:ext uri="{BB962C8B-B14F-4D97-AF65-F5344CB8AC3E}">
        <p14:creationId xmlns:p14="http://schemas.microsoft.com/office/powerpoint/2010/main" val="187922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36FBB-28C1-C6DE-F9B9-F599191E63BD}"/>
              </a:ext>
            </a:extLst>
          </p:cNvPr>
          <p:cNvSpPr>
            <a:spLocks noGrp="1"/>
          </p:cNvSpPr>
          <p:nvPr>
            <p:ph type="title"/>
          </p:nvPr>
        </p:nvSpPr>
        <p:spPr>
          <a:xfrm>
            <a:off x="1207363" y="284085"/>
            <a:ext cx="7421731" cy="710214"/>
          </a:xfrm>
        </p:spPr>
        <p:txBody>
          <a:bodyPr/>
          <a:lstStyle/>
          <a:p>
            <a:r>
              <a:rPr lang="en-US" sz="2000" b="1" dirty="0">
                <a:latin typeface="Times New Roman" panose="02020603050405020304" pitchFamily="18" charset="0"/>
                <a:cs typeface="Times New Roman" panose="02020603050405020304" pitchFamily="18" charset="0"/>
              </a:rPr>
              <a:t>9. Find how much amount is spent by each customer on artists? Write a query to return customer name, artist name and total spent</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8AAB572-EE43-333D-5CAE-0C6AD1D68BF1}"/>
              </a:ext>
            </a:extLst>
          </p:cNvPr>
          <p:cNvSpPr>
            <a:spLocks noGrp="1"/>
          </p:cNvSpPr>
          <p:nvPr>
            <p:ph type="subTitle" idx="1"/>
          </p:nvPr>
        </p:nvSpPr>
        <p:spPr>
          <a:xfrm>
            <a:off x="1207363" y="994299"/>
            <a:ext cx="7608163" cy="3524435"/>
          </a:xfrm>
        </p:spPr>
        <p:txBody>
          <a:bodyPr/>
          <a:lstStyle/>
          <a:p>
            <a:endParaRPr lang="en-IN"/>
          </a:p>
        </p:txBody>
      </p:sp>
      <p:pic>
        <p:nvPicPr>
          <p:cNvPr id="4" name="Picture 3">
            <a:extLst>
              <a:ext uri="{FF2B5EF4-FFF2-40B4-BE49-F238E27FC236}">
                <a16:creationId xmlns:a16="http://schemas.microsoft.com/office/drawing/2014/main" id="{49ED9F33-02B9-895D-BF0A-6ADFDEA096B1}"/>
              </a:ext>
            </a:extLst>
          </p:cNvPr>
          <p:cNvPicPr>
            <a:picLocks noChangeAspect="1"/>
          </p:cNvPicPr>
          <p:nvPr/>
        </p:nvPicPr>
        <p:blipFill>
          <a:blip r:embed="rId2"/>
          <a:stretch>
            <a:fillRect/>
          </a:stretch>
        </p:blipFill>
        <p:spPr>
          <a:xfrm>
            <a:off x="1207363" y="1610188"/>
            <a:ext cx="4678532" cy="2539013"/>
          </a:xfrm>
          <a:prstGeom prst="rect">
            <a:avLst/>
          </a:prstGeom>
        </p:spPr>
      </p:pic>
      <p:pic>
        <p:nvPicPr>
          <p:cNvPr id="6" name="Picture 5">
            <a:extLst>
              <a:ext uri="{FF2B5EF4-FFF2-40B4-BE49-F238E27FC236}">
                <a16:creationId xmlns:a16="http://schemas.microsoft.com/office/drawing/2014/main" id="{C41AA663-67D2-358C-CF9E-F6E8FAC5B87A}"/>
              </a:ext>
            </a:extLst>
          </p:cNvPr>
          <p:cNvPicPr>
            <a:picLocks noChangeAspect="1"/>
          </p:cNvPicPr>
          <p:nvPr/>
        </p:nvPicPr>
        <p:blipFill>
          <a:blip r:embed="rId3"/>
          <a:stretch>
            <a:fillRect/>
          </a:stretch>
        </p:blipFill>
        <p:spPr>
          <a:xfrm>
            <a:off x="6223248" y="1468254"/>
            <a:ext cx="2592278" cy="2680947"/>
          </a:xfrm>
          <a:prstGeom prst="rect">
            <a:avLst/>
          </a:prstGeom>
        </p:spPr>
      </p:pic>
    </p:spTree>
    <p:extLst>
      <p:ext uri="{BB962C8B-B14F-4D97-AF65-F5344CB8AC3E}">
        <p14:creationId xmlns:p14="http://schemas.microsoft.com/office/powerpoint/2010/main" val="1786863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E0172-E878-3390-34D1-659101946BC3}"/>
              </a:ext>
            </a:extLst>
          </p:cNvPr>
          <p:cNvSpPr>
            <a:spLocks noGrp="1"/>
          </p:cNvSpPr>
          <p:nvPr>
            <p:ph type="title"/>
          </p:nvPr>
        </p:nvSpPr>
        <p:spPr>
          <a:xfrm>
            <a:off x="1180731" y="150920"/>
            <a:ext cx="7501630" cy="878889"/>
          </a:xfrm>
        </p:spPr>
        <p:txBody>
          <a:bodyPr/>
          <a:lstStyle/>
          <a:p>
            <a:r>
              <a:rPr lang="en-US" b="1" dirty="0">
                <a:latin typeface="Times New Roman" panose="02020603050405020304" pitchFamily="18" charset="0"/>
                <a:cs typeface="Times New Roman" panose="02020603050405020304" pitchFamily="18" charset="0"/>
              </a:rPr>
              <a:t> 10. We want to find out the most popular music Genre for each country.   -- We determine the most popular genre as the genre with the highest amount of purchases.  -- Write a query that returns each country along with the top Genre.   -- For countries where the maximum number of purchases is shared, return all Genres</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94124C6-CABD-B74C-CA75-E6DDB010F057}"/>
              </a:ext>
            </a:extLst>
          </p:cNvPr>
          <p:cNvPicPr>
            <a:picLocks noChangeAspect="1"/>
          </p:cNvPicPr>
          <p:nvPr/>
        </p:nvPicPr>
        <p:blipFill>
          <a:blip r:embed="rId2"/>
          <a:stretch>
            <a:fillRect/>
          </a:stretch>
        </p:blipFill>
        <p:spPr>
          <a:xfrm>
            <a:off x="1321980" y="1903141"/>
            <a:ext cx="4754245" cy="2642658"/>
          </a:xfrm>
          <a:prstGeom prst="rect">
            <a:avLst/>
          </a:prstGeom>
        </p:spPr>
      </p:pic>
      <p:pic>
        <p:nvPicPr>
          <p:cNvPr id="6" name="Picture 5">
            <a:extLst>
              <a:ext uri="{FF2B5EF4-FFF2-40B4-BE49-F238E27FC236}">
                <a16:creationId xmlns:a16="http://schemas.microsoft.com/office/drawing/2014/main" id="{8C9966A0-4B25-4248-CD68-18FA62D89370}"/>
              </a:ext>
            </a:extLst>
          </p:cNvPr>
          <p:cNvPicPr>
            <a:picLocks noChangeAspect="1"/>
          </p:cNvPicPr>
          <p:nvPr/>
        </p:nvPicPr>
        <p:blipFill>
          <a:blip r:embed="rId3"/>
          <a:stretch>
            <a:fillRect/>
          </a:stretch>
        </p:blipFill>
        <p:spPr>
          <a:xfrm>
            <a:off x="6562041" y="1795986"/>
            <a:ext cx="2246050" cy="2642658"/>
          </a:xfrm>
          <a:prstGeom prst="rect">
            <a:avLst/>
          </a:prstGeom>
        </p:spPr>
      </p:pic>
    </p:spTree>
    <p:extLst>
      <p:ext uri="{BB962C8B-B14F-4D97-AF65-F5344CB8AC3E}">
        <p14:creationId xmlns:p14="http://schemas.microsoft.com/office/powerpoint/2010/main" val="944759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253CC-127C-66E6-E25F-031CB17B92BD}"/>
              </a:ext>
            </a:extLst>
          </p:cNvPr>
          <p:cNvSpPr>
            <a:spLocks noGrp="1"/>
          </p:cNvSpPr>
          <p:nvPr>
            <p:ph type="title"/>
          </p:nvPr>
        </p:nvSpPr>
        <p:spPr>
          <a:xfrm>
            <a:off x="1056442" y="213065"/>
            <a:ext cx="7886835" cy="790112"/>
          </a:xfrm>
        </p:spPr>
        <p:txBody>
          <a:bodyPr/>
          <a:lstStyle/>
          <a:p>
            <a:pPr algn="just"/>
            <a:r>
              <a:rPr lang="en-US" b="1" dirty="0">
                <a:latin typeface="Times New Roman" panose="02020603050405020304" pitchFamily="18" charset="0"/>
                <a:cs typeface="Times New Roman" panose="02020603050405020304" pitchFamily="18" charset="0"/>
              </a:rPr>
              <a:t>11. Write a query that determines the customer that has spent the most on music for each country.   -- Write a query that returns the country along with the top customer and how much they spent.   -- For countries where the top amount spent is shared, provide all customers who spent this amount</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38FE115-9723-6A86-1189-4C0BEE281091}"/>
              </a:ext>
            </a:extLst>
          </p:cNvPr>
          <p:cNvPicPr>
            <a:picLocks noChangeAspect="1"/>
          </p:cNvPicPr>
          <p:nvPr/>
        </p:nvPicPr>
        <p:blipFill>
          <a:blip r:embed="rId2"/>
          <a:stretch>
            <a:fillRect/>
          </a:stretch>
        </p:blipFill>
        <p:spPr>
          <a:xfrm>
            <a:off x="1150635" y="1580492"/>
            <a:ext cx="4776186" cy="2826572"/>
          </a:xfrm>
          <a:prstGeom prst="rect">
            <a:avLst/>
          </a:prstGeom>
        </p:spPr>
      </p:pic>
      <p:pic>
        <p:nvPicPr>
          <p:cNvPr id="6" name="Picture 5">
            <a:extLst>
              <a:ext uri="{FF2B5EF4-FFF2-40B4-BE49-F238E27FC236}">
                <a16:creationId xmlns:a16="http://schemas.microsoft.com/office/drawing/2014/main" id="{559590D5-66A6-0345-C5EF-D2118B022CA0}"/>
              </a:ext>
            </a:extLst>
          </p:cNvPr>
          <p:cNvPicPr>
            <a:picLocks noChangeAspect="1"/>
          </p:cNvPicPr>
          <p:nvPr/>
        </p:nvPicPr>
        <p:blipFill>
          <a:blip r:embed="rId3"/>
          <a:stretch>
            <a:fillRect/>
          </a:stretch>
        </p:blipFill>
        <p:spPr>
          <a:xfrm>
            <a:off x="6132180" y="1635511"/>
            <a:ext cx="2754368" cy="2451791"/>
          </a:xfrm>
          <a:prstGeom prst="rect">
            <a:avLst/>
          </a:prstGeom>
        </p:spPr>
      </p:pic>
    </p:spTree>
    <p:extLst>
      <p:ext uri="{BB962C8B-B14F-4D97-AF65-F5344CB8AC3E}">
        <p14:creationId xmlns:p14="http://schemas.microsoft.com/office/powerpoint/2010/main" val="110198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B17A50F-B275-2345-69AA-650C21A1B275}"/>
              </a:ext>
            </a:extLst>
          </p:cNvPr>
          <p:cNvSpPr>
            <a:spLocks noGrp="1"/>
          </p:cNvSpPr>
          <p:nvPr>
            <p:ph type="subTitle" idx="1"/>
          </p:nvPr>
        </p:nvSpPr>
        <p:spPr>
          <a:xfrm>
            <a:off x="550127" y="1748901"/>
            <a:ext cx="8036312" cy="1470084"/>
          </a:xfrm>
        </p:spPr>
        <p:txBody>
          <a:bodyPr/>
          <a:lstStyle/>
          <a:p>
            <a:r>
              <a:rPr lang="en-US" sz="1600" dirty="0">
                <a:latin typeface="Times New Roman" panose="02020603050405020304" pitchFamily="18" charset="0"/>
                <a:cs typeface="Times New Roman" panose="02020603050405020304" pitchFamily="18" charset="0"/>
              </a:rPr>
              <a:t>The data conclusively shows that the music store's success is driven by a highly concentrated,</a:t>
            </a:r>
          </a:p>
          <a:p>
            <a:r>
              <a:rPr lang="en-US" sz="1600" dirty="0">
                <a:latin typeface="Times New Roman" panose="02020603050405020304" pitchFamily="18" charset="0"/>
                <a:cs typeface="Times New Roman" panose="02020603050405020304" pitchFamily="18" charset="0"/>
              </a:rPr>
              <a:t>yet valuable, market. The clear path for growth is to leverage the dominance of the </a:t>
            </a:r>
          </a:p>
          <a:p>
            <a:r>
              <a:rPr lang="en-US" sz="1600" b="1" dirty="0">
                <a:latin typeface="Times New Roman" panose="02020603050405020304" pitchFamily="18" charset="0"/>
                <a:cs typeface="Times New Roman" panose="02020603050405020304" pitchFamily="18" charset="0"/>
              </a:rPr>
              <a:t>Rock genre</a:t>
            </a:r>
            <a:r>
              <a:rPr lang="en-US" sz="1600" dirty="0">
                <a:latin typeface="Times New Roman" panose="02020603050405020304" pitchFamily="18" charset="0"/>
                <a:cs typeface="Times New Roman" panose="02020603050405020304" pitchFamily="18" charset="0"/>
              </a:rPr>
              <a:t> and actively engage with top-performing customers and cities to maximize</a:t>
            </a:r>
          </a:p>
          <a:p>
            <a:r>
              <a:rPr lang="en-US" sz="1600" dirty="0">
                <a:latin typeface="Times New Roman" panose="02020603050405020304" pitchFamily="18" charset="0"/>
                <a:cs typeface="Times New Roman" panose="02020603050405020304" pitchFamily="18" charset="0"/>
              </a:rPr>
              <a:t>revenue.</a:t>
            </a:r>
            <a:endParaRPr lang="en-IN" sz="16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8AD54512-3A96-B253-9330-AF068C8FEAA7}"/>
              </a:ext>
            </a:extLst>
          </p:cNvPr>
          <p:cNvSpPr>
            <a:spLocks noGrp="1"/>
          </p:cNvSpPr>
          <p:nvPr>
            <p:ph type="title"/>
          </p:nvPr>
        </p:nvSpPr>
        <p:spPr>
          <a:xfrm>
            <a:off x="2981092" y="1012054"/>
            <a:ext cx="4556049" cy="736847"/>
          </a:xfrm>
        </p:spPr>
        <p:txBody>
          <a:bodyPr/>
          <a:lstStyle/>
          <a:p>
            <a:r>
              <a:rPr lang="en-IN" sz="40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322189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1C4E2D09-13A3-0D55-9F03-C83F92C7D2B7}"/>
              </a:ext>
            </a:extLst>
          </p:cNvPr>
          <p:cNvSpPr>
            <a:spLocks noGrp="1" noChangeArrowheads="1"/>
          </p:cNvSpPr>
          <p:nvPr>
            <p:ph type="subTitle" idx="1"/>
          </p:nvPr>
        </p:nvSpPr>
        <p:spPr bwMode="auto">
          <a:xfrm>
            <a:off x="5255941" y="3562291"/>
            <a:ext cx="3560957"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pPr>
            <a:r>
              <a:rPr kumimoji="0" lang="en-US" altLang="en-US" sz="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11A7BFB4-242A-DCFA-A92D-8FFAF4B4F12E}"/>
              </a:ext>
            </a:extLst>
          </p:cNvPr>
          <p:cNvPicPr>
            <a:picLocks noChangeAspect="1"/>
          </p:cNvPicPr>
          <p:nvPr/>
        </p:nvPicPr>
        <p:blipFill>
          <a:blip r:embed="rId2"/>
          <a:stretch>
            <a:fillRect/>
          </a:stretch>
        </p:blipFill>
        <p:spPr>
          <a:xfrm>
            <a:off x="1521040" y="731964"/>
            <a:ext cx="6410385" cy="3681010"/>
          </a:xfrm>
          <a:prstGeom prst="rect">
            <a:avLst/>
          </a:prstGeom>
        </p:spPr>
      </p:pic>
    </p:spTree>
    <p:extLst>
      <p:ext uri="{BB962C8B-B14F-4D97-AF65-F5344CB8AC3E}">
        <p14:creationId xmlns:p14="http://schemas.microsoft.com/office/powerpoint/2010/main" val="3115187841"/>
      </p:ext>
    </p:extLst>
  </p:cSld>
  <p:clrMapOvr>
    <a:masterClrMapping/>
  </p:clrMapOvr>
</p:sld>
</file>

<file path=ppt/theme/theme1.xml><?xml version="1.0" encoding="utf-8"?>
<a:theme xmlns:a="http://schemas.openxmlformats.org/drawingml/2006/main" name="French Classical Music by Slidesgo">
  <a:themeElements>
    <a:clrScheme name="Simple Light">
      <a:dk1>
        <a:srgbClr val="000000"/>
      </a:dk1>
      <a:lt1>
        <a:srgbClr val="DDDCDA"/>
      </a:lt1>
      <a:dk2>
        <a:srgbClr val="CACAC7"/>
      </a:dk2>
      <a:lt2>
        <a:srgbClr val="000000"/>
      </a:lt2>
      <a:accent1>
        <a:srgbClr val="DDDCDA"/>
      </a:accent1>
      <a:accent2>
        <a:srgbClr val="CACAC7"/>
      </a:accent2>
      <a:accent3>
        <a:srgbClr val="000000"/>
      </a:accent3>
      <a:accent4>
        <a:srgbClr val="DDDCDA"/>
      </a:accent4>
      <a:accent5>
        <a:srgbClr val="CACAC7"/>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TotalTime>
  <Words>1020</Words>
  <Application>Microsoft Office PowerPoint</Application>
  <PresentationFormat>On-screen Show (16:9)</PresentationFormat>
  <Paragraphs>126</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Roboto Slab Medium</vt:lpstr>
      <vt:lpstr>Palanquin Dark</vt:lpstr>
      <vt:lpstr>Roboto</vt:lpstr>
      <vt:lpstr>Times New Roman</vt:lpstr>
      <vt:lpstr>Arial</vt:lpstr>
      <vt:lpstr>Roboto Slab</vt:lpstr>
      <vt:lpstr>French Classical Music by Slidesgo</vt:lpstr>
      <vt:lpstr>PowerPoint Presentation</vt:lpstr>
      <vt:lpstr>Experience and linkedin and GitHub URLs:</vt:lpstr>
      <vt:lpstr>Introduction</vt:lpstr>
      <vt:lpstr>Problem Statement</vt:lpstr>
      <vt:lpstr>Tables</vt:lpstr>
      <vt:lpstr>Tables</vt:lpstr>
      <vt:lpstr>Tables</vt:lpstr>
      <vt:lpstr>ER Diagram</vt:lpstr>
      <vt:lpstr>1. Who is the senior most employee based on job title?</vt:lpstr>
      <vt:lpstr>2. Which countries have the most Invoices?</vt:lpstr>
      <vt:lpstr>3. What are the top 3 values of total invoice?</vt:lpstr>
      <vt:lpstr>4. Which city has the best customers? - We would like to throw a promotional Music Festival in the city we made the most money.  Write a query that returns one city that has the highest sum of invoice totals.  Return both the city name &amp; sum of all invoice totals</vt:lpstr>
      <vt:lpstr>5. The customer who has spent the most money will be declared the best customer. Write a query that returns the person who has spent the most money.</vt:lpstr>
      <vt:lpstr>6. Write a query to return the email, first name, last name, &amp; Genre of all Rock Music listeners. -- Return your list ordered alphabetically by email starting with A</vt:lpstr>
      <vt:lpstr>7. Let's invite the artists who have written the most rock music in our dataset.-- Write a query that returns the Artist name and total track count of the top 10 rock bands</vt:lpstr>
      <vt:lpstr>8. Return all the track names that have a song length longer than the average song length.-- Return the Name and Milliseconds for each track. Order by the song length, with the longest songs listed first</vt:lpstr>
      <vt:lpstr>9. Find how much amount is spent by each customer on artists? Write a query to return customer name, artist name and total spent</vt:lpstr>
      <vt:lpstr> 10. We want to find out the most popular music Genre for each country.   -- We determine the most popular genre as the genre with the highest amount of purchases.  -- Write a query that returns each country along with the top Genre.   -- For countries where the maximum number of purchases is shared, return all Genres</vt:lpstr>
      <vt:lpstr>11. Write a query that determines the customer that has spent the most on music for each country.   -- Write a query that returns the country along with the top customer and how much they spent.   -- For countries where the top amount spent is shared, provide all customers who spent this amount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 Sandeep</dc:creator>
  <cp:lastModifiedBy>sure madhulatha</cp:lastModifiedBy>
  <cp:revision>10</cp:revision>
  <dcterms:modified xsi:type="dcterms:W3CDTF">2025-10-11T10:37:41Z</dcterms:modified>
</cp:coreProperties>
</file>